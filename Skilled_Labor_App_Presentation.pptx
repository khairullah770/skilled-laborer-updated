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SKILLED LABOR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5A623"/>
                </a:solidFill>
              </a:rPr>
              <a:t>Connecting Customers with Verified Skilled Professionals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EC6CF"/>
                </a:solidFill>
              </a:rPr>
              <a:t>A Full-Stack Mobile + Web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5C1E9"/>
                </a:solidFill>
              </a:rPr>
              <a:t>React Native  ·  Expo  ·  Node.js  ·  MongoDB  ·  Socket.IO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F8C8D"/>
                </a:solidFill>
              </a:rPr>
              <a:t>Final Year Project  |  Viva Voce Presentation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648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Skilled Labor App  |  Final Year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411480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716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98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Problem Statement &amp; Motivation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28800"/>
            <a:ext cx="411480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8288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8470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Project Overview &amp; Objectives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86000"/>
            <a:ext cx="411480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2860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042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System 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743200"/>
            <a:ext cx="411480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7432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7614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Technology Stack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200400"/>
            <a:ext cx="411480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2004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2186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Database Design &amp; Models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657600"/>
            <a:ext cx="411480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36576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675887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User Roles &amp; Authentication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114800"/>
            <a:ext cx="411480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1148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133087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Mobile App – Customer Features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572000"/>
            <a:ext cx="411480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5720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5902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Mobile App – Laborer Features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029200"/>
            <a:ext cx="411480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50292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0474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Admin Dashboard (Web)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486400"/>
            <a:ext cx="411480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54864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5046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Real-Time Chat &amp; Socket.IO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1371600"/>
            <a:ext cx="4114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13716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13898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AI Chatbot Integration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1828800"/>
            <a:ext cx="4114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18288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18470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Booking Lifecycle &amp; Workflow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2286000"/>
            <a:ext cx="4114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22860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</a:rPr>
              <a:t>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23042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Verification &amp; Trust System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2743200"/>
            <a:ext cx="4114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27432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</a:rPr>
              <a:t>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27614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Ratings &amp; Reviews System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200400"/>
            <a:ext cx="4114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2004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</a:rPr>
              <a:t>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32186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Service Categories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3657600"/>
            <a:ext cx="4114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36576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</a:rPr>
              <a:t>16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03720" y="367588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API Design &amp; Endpoints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4114800"/>
            <a:ext cx="4114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0" y="41148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</a:rPr>
              <a:t>17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3720" y="413308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Testing Strategy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4572000"/>
            <a:ext cx="4114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45720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</a:rPr>
              <a:t>18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3720" y="45902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Security Implementation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5029200"/>
            <a:ext cx="4114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50292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</a:rPr>
              <a:t>19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03720" y="50474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Future Enhancements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5486400"/>
            <a:ext cx="4114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0" y="54864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</a:rPr>
              <a:t>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03720" y="55046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Conclusion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648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Skilled Labor App  |  Final Year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77724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</a:rPr>
              <a:t>🔴  Problems Identified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74980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 b="0">
                <a:solidFill>
                  <a:srgbClr val="2C3E50"/>
                </a:solidFill>
              </a:rPr>
              <a:t>• Finding reliable, verified skilled workers (plumbers, electricians, carpenters etc.) is difficult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2C3E50"/>
                </a:solidFill>
              </a:rPr>
              <a:t>• No centralized platform connecting customers with skilled laborers in real-time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2C3E50"/>
                </a:solidFill>
              </a:rPr>
              <a:t>• Trust issues – no verification system for laborer credentials or qualifications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2C3E50"/>
                </a:solidFill>
              </a:rPr>
              <a:t>• Manual booking via phone calls is inefficient and error-prone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2C3E50"/>
                </a:solidFill>
              </a:rPr>
              <a:t>• Customers have no visibility into laborer availability, ratings, or work history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2C3E50"/>
                </a:solidFill>
              </a:rPr>
              <a:t>• Laborers lack a digital presence to showcase their skills and attract clients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2C3E50"/>
                </a:solidFill>
              </a:rPr>
              <a:t>• No structured payment tracking or booking history for either party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280160"/>
            <a:ext cx="3657600" cy="4937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✅  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828800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</a:rPr>
              <a:t>✓  Mobile app for iOS &amp; Android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</a:rPr>
              <a:t>✓  Web admin dashboard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</a:rPr>
              <a:t>✓  Identity verification system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</a:rPr>
              <a:t>✓  Real-time chat via Socket.IO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</a:rPr>
              <a:t>✓  Location-aware search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</a:rPr>
              <a:t>✓  Rating &amp; review system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</a:rPr>
              <a:t>✓  AI-powered chatbot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</a:rPr>
              <a:t>✓  End-to-end booking 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Overview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648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Skilled Labor App  |  Final Year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1161288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7160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Skilled Labor App is a full-stack on-demand home services platform connecting customers with verified skilled tradespeople. It provides seamless booking, real-time communication, and a transparent trust system.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468880"/>
            <a:ext cx="3749039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🎯  Seamless Booking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9260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Allow customers to find, compare, and book skilled laborers in minutes with location-aware search.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2468880"/>
            <a:ext cx="3749039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🔐  Trust &amp;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260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Implement a robust multi-step identity verification workflow with admin approval.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468880"/>
            <a:ext cx="3749039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💬  Real-Time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260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Enable instant messaging between customers and laborers via Socket.IO WebSockets.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389120"/>
            <a:ext cx="3749039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4480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🤖  AI Assistance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846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Integrate an AI chatbot (OpenRouter LLM) to guide users and answer service queries.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4389120"/>
            <a:ext cx="3749039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4480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📊  Admin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846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Provide a web-based admin dashboard for full platform management and analytics.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4389120"/>
            <a:ext cx="3749039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4480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⭐  Quality Assurance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846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Drive service quality through a transparent rating and review system post-completion.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3-Tier Architecture with Real-Time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648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Skilled Labor App  |  Final Year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3657600" cy="4846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PRESENTATION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1920240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React Native + Expo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79" y="2697480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3A5F"/>
                </a:solidFill>
              </a:rPr>
              <a:t>Mobile App (iOS/Android)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79" y="3474720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204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3A5F"/>
                </a:solidFill>
              </a:rPr>
              <a:t>Admin Dashboard (React/Vite)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79" y="4251960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29767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3A5F"/>
                </a:solidFill>
              </a:rPr>
              <a:t>Tailwind CSS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280160"/>
            <a:ext cx="3657600" cy="48463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APPLICATION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1920240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1965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86C1"/>
                </a:solidFill>
              </a:rPr>
              <a:t>Node.js + Express.js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2697480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E86C1"/>
                </a:solidFill>
              </a:rPr>
              <a:t>RESTful API Server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3474720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5204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E86C1"/>
                </a:solidFill>
              </a:rPr>
              <a:t>Socket.IO WebSocket Server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4251960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429767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E86C1"/>
                </a:solidFill>
              </a:rPr>
              <a:t>JWT Authentication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40" y="5029200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5074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E86C1"/>
                </a:solidFill>
              </a:rPr>
              <a:t>Multer File Upload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1280160"/>
            <a:ext cx="3657600" cy="48463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1920240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1965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6A085"/>
                </a:solidFill>
              </a:rPr>
              <a:t>MongoDB (Atlas)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58200" y="2697480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6A085"/>
                </a:solidFill>
              </a:rPr>
              <a:t>Mongoose ODM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58200" y="3474720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35204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6A085"/>
                </a:solidFill>
              </a:rPr>
              <a:t>9 Collections/Models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4251960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429767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6A085"/>
                </a:solidFill>
              </a:rPr>
              <a:t>GridFS for file storage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58200" y="5029200"/>
            <a:ext cx="3383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9640" y="5074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6A085"/>
                </a:solidFill>
              </a:rPr>
              <a:t>Indexes for performance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0" y="3291840"/>
            <a:ext cx="347472" cy="274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0" y="324612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79" y="3291840"/>
            <a:ext cx="347472" cy="274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79" y="324612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23620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</a:rPr>
              <a:t>Cross-Cutting Concerns:  JWT Security  |  CORS  |  Error Middleware  |  File Upload (Multer)  |  bcrypt Password Hashing  |  Socket.IO Auth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Full-Stack JavaScript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648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Skilled Labor App  |  Final Year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760720" cy="2514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463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📱 Mobile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74519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React Native 0.81.5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Expo SDK 54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Expo Router (file-based navigation)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TypeScript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React Native Maps (Google Maps)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Expo Location, Image Picker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AsyncStorage (local persistence)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Socket.io-client 4.8.3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760720" cy="25146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🖥️ Admin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19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React 18 + TypeScript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Vite (build tool)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Tailwind CSS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React Router DOM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Axios (HTTP client)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Hosted separately on web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23360"/>
            <a:ext cx="5760720" cy="25146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41148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⚙️ Backend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52628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Node.js + Express.js 4.18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Socket.IO 4.8.3 (WebSockets)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JWT (jsonwebtoken 9.0.3)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bcryptjs (password hashing)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Multer (file/image upload)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dotenv, cors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4023360"/>
            <a:ext cx="5760720" cy="2514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1148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🗄️ Database &amp;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2628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MongoDB (Mongoose ODM 7.6.3)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10+ Mongoose models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OpenRouter API (LLM AI)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Multiple free LLM fallbacks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REST API (JSON)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FFFFFF"/>
                </a:solidFill>
              </a:rPr>
              <a:t>• Jest + Supertest (testing)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Database Design &amp;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MongoDB with Mongoose ODM – 10 Collections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648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Skilled Labor App  |  Final Year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669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137160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62763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6304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name, email, phone, password  ·  role: customer|laborer|admin  ·  status: unverified|pending|approved|rejected|blocked  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423160"/>
            <a:ext cx="5669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423160"/>
            <a:ext cx="137160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67919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51460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firstName, lastName, email, phone  ·  password (bcrypt hashed)  ·  profileImage, currentLocation  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74720"/>
            <a:ext cx="5669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474720"/>
            <a:ext cx="137160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7307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Booking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56616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customer (ref: Customer)  ·  laborer (ref: User)  ·  service, serviceDescription  ...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26279"/>
            <a:ext cx="5669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526279"/>
            <a:ext cx="137160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7823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617719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booking (ref: Booking, unique)  ·  customer, laborer references  ·  lastMessage snapshot  ...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577840"/>
            <a:ext cx="5669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5577840"/>
            <a:ext cx="137160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58338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Message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669279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chat reference  ·  senderId, senderRole  ·  text content, read status  ...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371600"/>
            <a:ext cx="5669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1371600"/>
            <a:ext cx="1371600" cy="9601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62763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ServiceOffering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146304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laborer (ref: User)  ·  category, subcategory refs  ·  price (min 0)  ...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423160"/>
            <a:ext cx="5669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2423160"/>
            <a:ext cx="1371600" cy="9601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267919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JobRating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51460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booking, laborer, customer refs  ·  rating (0.5–5 stars)  ·  comment (max 500 chars)  ...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474720"/>
            <a:ext cx="5669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474720"/>
            <a:ext cx="1371600" cy="9601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37307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Notification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356616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recipient (ref: User)  ·  type (12 types)  ·  title, message, data  ...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526279"/>
            <a:ext cx="5669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4526279"/>
            <a:ext cx="1371600" cy="9601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47823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4617719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name (unique)  ·  icon (image path)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5577840"/>
            <a:ext cx="5669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5577840"/>
            <a:ext cx="1371600" cy="9601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58338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AuditLog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5669279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Admin action tracking  ·  Who did what and when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User Roles &amp;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JWT-Based Role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648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Skilled Labor App  |  Final Year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3749039" cy="4892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👤 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74519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Register via email or phone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Browse &amp; search laborers by category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Book services with date/time/location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Real-time chat with laborer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Track booking status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Rate &amp; review completed jobs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Manage profile &amp; settings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AI chatbot assistance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280160"/>
            <a:ext cx="3749039" cy="489204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13716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🔧 LABORER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74519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Register with phone number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Submit ID verification documents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Get approved by admin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Set availability on/off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Accept/decline job requests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Manage service offerings &amp; prices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Chat with customers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View earnings &amp; job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3749039" cy="4892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716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🛡️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874519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Full platform oversight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Approve/reject laborer verification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Manage users (block/unblock/warn)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View all bookings &amp; analytics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Manage service categories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Dashboard statistics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Issue warnings &amp; take account actions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FFFFF"/>
                </a:solidFill>
              </a:rPr>
              <a:t>✓  Admin web dashboard access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6172200"/>
            <a:ext cx="116128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1996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</a:rPr>
              <a:t>Auth Flow:  POST /api/users/login  →  JWT Token (role embedded)  →  Bearer Token in headers  →  protect middleware validates  →  role-specific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Mobile App – Customer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React Native / Expo Router – Tab-Based Navigation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648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Skilled Labor App  |  Final Year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374903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990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86C1"/>
                </a:solidFill>
              </a:rPr>
              <a:t>🏠 Home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64792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Service category grid (12 categories)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Advertisement banner (auto-scroll)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Search laborers by name/skill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Location picker (GPS + Map)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AI ChatBot floating button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Future services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325880"/>
            <a:ext cx="374903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13990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86C1"/>
                </a:solidFill>
              </a:rPr>
              <a:t>📋 Bookings 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399" y="1764792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View all past &amp; current bookings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Filter by status (Pending, Active, etc)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Booking details with laborer info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Cancel or reschedule bookings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Payment status tracking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Rate completed jobs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25880"/>
            <a:ext cx="374903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990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86C1"/>
                </a:solidFill>
              </a:rPr>
              <a:t>💬 Chat Tab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64792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List of all active conversations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Real-time messaging (Socket.IO)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Unread message badges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Message read receipts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Chat history per booking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840480"/>
            <a:ext cx="374903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9136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86C1"/>
                </a:solidFill>
              </a:rPr>
              <a:t>👤 Account Tab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279392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Profile photo &amp; personal info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Edit profile details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Change password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Dark/Light theme toggle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Location settings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Notification preferences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Logout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3840480"/>
            <a:ext cx="374903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399" y="39136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86C1"/>
                </a:solidFill>
              </a:rPr>
              <a:t>🔍 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399" y="4279392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Browse all categories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Subcategory drill-down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Laborer profile view (rating, reviews)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Service offerings with prices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Book directly from profile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840480"/>
            <a:ext cx="374903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9136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86C1"/>
                </a:solidFill>
              </a:rPr>
              <a:t>📍 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279392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GPS auto-detect current location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Interactive Google Maps picker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Manual address input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Location saved to profile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Mobile App – Laborer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Expo Router – Multi-Tab Laborer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648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Skilled Labor App  |  Final Year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374903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990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6A085"/>
                </a:solidFill>
              </a:rPr>
              <a:t>🏠 Home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64792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Welcome with name &amp; status badge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Today's job summary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Availability toggle (on/off switch)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Quick stats (rating, completed jobs)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Pending job requests 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325880"/>
            <a:ext cx="374903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13990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6A085"/>
                </a:solidFill>
              </a:rPr>
              <a:t>💼 Jobs 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399" y="1764792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All incoming job requests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Accept or Decline each job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Job status tracking (Pending→Completed)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Job details: service, location, time, pay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Mark job as In Progress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25880"/>
            <a:ext cx="374903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990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6A085"/>
                </a:solidFill>
              </a:rPr>
              <a:t>📊 Dashboard Tab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64792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Total earnings summary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Jobs accepted/declined/completed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Average rating display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Job completion percentage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Recent activity feed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840480"/>
            <a:ext cx="374903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9136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6A085"/>
                </a:solidFill>
              </a:rPr>
              <a:t>⚙️ Services Tab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279392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Add/edit service offerings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Set price per subcategory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Toggle service active/inactive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Manage multiple categories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Description for each 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3840480"/>
            <a:ext cx="374903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399" y="39136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6A085"/>
                </a:solidFill>
              </a:rPr>
              <a:t>💬 Chat Tab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399" y="4279392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Conversations with customers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Real-time Socket.IO messaging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Booking-linked chat threads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Unread count badges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840480"/>
            <a:ext cx="3749039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9136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6A085"/>
                </a:solidFill>
              </a:rPr>
              <a:t>👤 Profile &amp; Account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279392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Upload profile &amp; ID card photos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Set current location on map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Edit personal info &amp; experience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Notification settings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C3E50"/>
                </a:solidFill>
              </a:rPr>
              <a:t>• Change password, Logout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Admin Dashboard (Web)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React + Vite + TypeScript + Tailwind CSS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648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Skilled Labor App  |  Final Year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7772400" cy="4983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Web-Based Admin Control Center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28800"/>
            <a:ext cx="20116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88366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Login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9019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Secure admin authentication with JWT token storage in browser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32304"/>
            <a:ext cx="20116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4871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50545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Stats: total users, bookings, revenue, pending verifications, active users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035808"/>
            <a:ext cx="20116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0906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Users 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1089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List all laborers: view profile, verification status, block/warn/unblock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639312"/>
            <a:ext cx="20116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6941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Verifications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712463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Review submitted ID docs (profile photo + ID card), approve or reject with reason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242816"/>
            <a:ext cx="20116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297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Bookings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3159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Full booking list with filters, status management, customer &amp; laborer details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846320"/>
            <a:ext cx="20116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90118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9194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Manage service categories, add/edit/delete categories with icons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449824"/>
            <a:ext cx="20116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5046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Notifications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55229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System-wide notification history and management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1280160"/>
            <a:ext cx="3657600" cy="4983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⚙️  Technical Details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1874519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100" b="0">
                <a:solidFill>
                  <a:srgbClr val="FFFFFF"/>
                </a:solidFill>
              </a:rPr>
              <a:t>• Framework: React 18 + TypeScript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FFFFFF"/>
                </a:solidFill>
              </a:rPr>
              <a:t>• Build Tool: Vite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FFFFFF"/>
                </a:solidFill>
              </a:rPr>
              <a:t>• Styling: Tailwind CSS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FFFFFF"/>
                </a:solidFill>
              </a:rPr>
              <a:t>• Routing: React Router DOM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FFFFFF"/>
                </a:solidFill>
              </a:rPr>
              <a:t>• HTTP: Axios to backend API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FFFFFF"/>
                </a:solidFill>
              </a:rPr>
              <a:t>• Auth: JWT token (localStorage)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FFFFFF"/>
                </a:solidFill>
              </a:rPr>
              <a:t>• Served separately from mobile app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FFFFFF"/>
                </a:solidFill>
              </a:rPr>
              <a:t>• Responsive layout with sidebar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FFFFFF"/>
                </a:solidFill>
              </a:rPr>
              <a:t>• Modal dialogs for detail views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FFFFFF"/>
                </a:solidFill>
              </a:rPr>
              <a:t>• User Details Modal with full info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Real-Time Chat &amp; Socket.IO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Bidirectional WebSocket Communication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648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Skilled Labor App  |  Final Year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11612880" cy="1828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Socket.IO Event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141732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75564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</a:rPr>
              <a:t>connect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773936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Client authenticates with JWT token in handshake.auth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737360"/>
            <a:ext cx="141732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75564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</a:rPr>
              <a:t>joinChat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19" y="1773936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Client joins a specific chat room (chat_&lt;bookingId&gt;)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103120"/>
            <a:ext cx="141732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12140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</a:rPr>
              <a:t>sendMessage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139696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Client sends text → server saves Message → broadcasts newMessage to room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2103120"/>
            <a:ext cx="141732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212140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</a:rPr>
              <a:t>newMessage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19" y="2139696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Emitted to all room members, updates UI in real-time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468880"/>
            <a:ext cx="141732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48716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</a:rPr>
              <a:t>markRead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2505456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Mark all unread messages as read → update unread counters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2468880"/>
            <a:ext cx="141732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248716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</a:rPr>
              <a:t>messagesRead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19" y="2505456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Notify sender that their messages were read (read receipts)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834640"/>
            <a:ext cx="141732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85292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</a:rPr>
              <a:t>chatUpdate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2871216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Notify recipient's personal room (user_&lt;id&gt;) for inbox badge update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59" y="2834640"/>
            <a:ext cx="141732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285292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</a:rPr>
              <a:t>disconnect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19" y="2871216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Clean up on client disconnect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246120"/>
            <a:ext cx="56692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337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🔒  Security &amp; Architecture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3749039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150" b="0">
                <a:solidFill>
                  <a:srgbClr val="2C3E50"/>
                </a:solidFill>
              </a:rPr>
              <a:t>• JWT token verification on every socket connection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2C3E50"/>
                </a:solidFill>
              </a:rPr>
              <a:t>• Users can only send messages in their own chats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2C3E50"/>
                </a:solidFill>
              </a:rPr>
              <a:t>• Server validates sender is chat participant (customer or laborer)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2C3E50"/>
                </a:solidFill>
              </a:rPr>
              <a:t>• Chat closes (isActive=false) after job completion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2C3E50"/>
                </a:solidFill>
              </a:rPr>
              <a:t>• Separate personal rooms (user_&lt;id&gt;) for inbox notifications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2C3E50"/>
                </a:solidFill>
              </a:rPr>
              <a:t>• Unread counters tracked per user role in Chat model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246120"/>
            <a:ext cx="56692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3337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085"/>
                </a:solidFill>
              </a:rPr>
              <a:t>💾  Data Persistence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749039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150" b="0">
                <a:solidFill>
                  <a:srgbClr val="2C3E50"/>
                </a:solidFill>
              </a:rPr>
              <a:t>• Every message saved to MongoDB (Message model)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2C3E50"/>
                </a:solidFill>
              </a:rPr>
              <a:t>• Chat model stores lastMessage snapshot for inbox preview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2C3E50"/>
                </a:solidFill>
              </a:rPr>
              <a:t>• unreadCustomer and unreadLaborer counters maintained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2C3E50"/>
                </a:solidFill>
              </a:rPr>
              <a:t>• Message read status persisted across sessions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2C3E50"/>
                </a:solidFill>
              </a:rPr>
              <a:t>• One chat per booking (unique index enforced)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2C3E50"/>
                </a:solidFill>
              </a:rPr>
              <a:t>• Chat history loadable at any time from API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Chatbot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OpenRouter LLM – Multi-Model Fallback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648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Skilled Labor App  |  Final Year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5394960" cy="4983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🤖  How the Chatbot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28800"/>
            <a:ext cx="51663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</a:pPr>
            <a:r>
              <a:rPr sz="1150" b="0">
                <a:solidFill>
                  <a:srgbClr val="2C3E50"/>
                </a:solidFill>
              </a:rPr>
              <a:t>• Customer clicks floating ChatBot button on Home Screen</a:t>
            </a:r>
          </a:p>
          <a:p>
            <a:pPr algn="l">
              <a:spcBef>
                <a:spcPts val="900"/>
              </a:spcBef>
            </a:pPr>
            <a:r>
              <a:rPr sz="1150" b="0">
                <a:solidFill>
                  <a:srgbClr val="2C3E50"/>
                </a:solidFill>
              </a:rPr>
              <a:t>• App calls POST /api/chatbot/message with conversation history</a:t>
            </a:r>
          </a:p>
          <a:p>
            <a:pPr algn="l">
              <a:spcBef>
                <a:spcPts val="900"/>
              </a:spcBef>
            </a:pPr>
            <a:r>
              <a:rPr sz="1150" b="0">
                <a:solidFill>
                  <a:srgbClr val="2C3E50"/>
                </a:solidFill>
              </a:rPr>
              <a:t>• Backend builds a system prompt with platform context</a:t>
            </a:r>
          </a:p>
          <a:p>
            <a:pPr algn="l">
              <a:spcBef>
                <a:spcPts val="900"/>
              </a:spcBef>
            </a:pPr>
            <a:r>
              <a:rPr sz="1150" b="0">
                <a:solidFill>
                  <a:srgbClr val="2C3E50"/>
                </a:solidFill>
              </a:rPr>
              <a:t>• System prompt informs bot about: available categories, services, booking flow, and the platform</a:t>
            </a:r>
          </a:p>
          <a:p>
            <a:pPr algn="l">
              <a:spcBef>
                <a:spcPts val="900"/>
              </a:spcBef>
            </a:pPr>
            <a:r>
              <a:rPr sz="1150" b="0">
                <a:solidFill>
                  <a:srgbClr val="2C3E50"/>
                </a:solidFill>
              </a:rPr>
              <a:t>• Conversation history sent to OpenRouter AI API</a:t>
            </a:r>
          </a:p>
          <a:p>
            <a:pPr algn="l">
              <a:spcBef>
                <a:spcPts val="900"/>
              </a:spcBef>
            </a:pPr>
            <a:r>
              <a:rPr sz="1150" b="0">
                <a:solidFill>
                  <a:srgbClr val="2C3E50"/>
                </a:solidFill>
              </a:rPr>
              <a:t>• AI responds with helpful guidance about services, pricing, and booking</a:t>
            </a:r>
          </a:p>
          <a:p>
            <a:pPr algn="l">
              <a:spcBef>
                <a:spcPts val="900"/>
              </a:spcBef>
            </a:pPr>
            <a:r>
              <a:rPr sz="1150" b="0">
                <a:solidFill>
                  <a:srgbClr val="2C3E50"/>
                </a:solidFill>
              </a:rPr>
              <a:t>• Conversation saved in ChatbotConversation MongoDB model</a:t>
            </a:r>
          </a:p>
          <a:p>
            <a:pPr algn="l">
              <a:spcBef>
                <a:spcPts val="900"/>
              </a:spcBef>
            </a:pPr>
            <a:r>
              <a:rPr sz="1150" b="0">
                <a:solidFill>
                  <a:srgbClr val="2C3E50"/>
                </a:solidFill>
              </a:rPr>
              <a:t>• Users can ask about service types, pricing estimates, and how to 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280160"/>
            <a:ext cx="5943600" cy="2377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3716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🔗  OpenRouter Model Fallback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828800"/>
            <a:ext cx="5715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100" b="0">
                <a:solidFill>
                  <a:srgbClr val="FFFFFF"/>
                </a:solidFill>
              </a:rPr>
              <a:t>• nvidia/nemotron-nano-9b-v2:free (primary)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FFFFFF"/>
                </a:solidFill>
              </a:rPr>
              <a:t>• stepfun/step-3.5-flash:free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FFFFFF"/>
                </a:solidFill>
              </a:rPr>
              <a:t>• liquid/lfm-2.5-1.2b:free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FFFFFF"/>
                </a:solidFill>
              </a:rPr>
              <a:t>• mistralai/mistral-small-3.1-24b:free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FFFFFF"/>
                </a:solidFill>
              </a:rPr>
              <a:t>• meta-llama/llama-3.2-3b:free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FFFFFF"/>
                </a:solidFill>
              </a:rPr>
              <a:t>• google/gemma-3-4b-it:free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FFFFFF"/>
                </a:solidFill>
              </a:rPr>
              <a:t>• →  Tries next model if rate-limited or error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749039"/>
            <a:ext cx="5943600" cy="25146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384048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💡  Chatbot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4297680"/>
            <a:ext cx="5715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</a:pPr>
            <a:r>
              <a:rPr sz="1100" b="0">
                <a:solidFill>
                  <a:srgbClr val="FFFFFF"/>
                </a:solidFill>
              </a:rPr>
              <a:t>✓  Answer questions about available service categories</a:t>
            </a:r>
          </a:p>
          <a:p>
            <a:pPr algn="l">
              <a:spcBef>
                <a:spcPts val="900"/>
              </a:spcBef>
            </a:pPr>
            <a:r>
              <a:rPr sz="1100" b="0">
                <a:solidFill>
                  <a:srgbClr val="FFFFFF"/>
                </a:solidFill>
              </a:rPr>
              <a:t>✓  Guide customers on how to book a service</a:t>
            </a:r>
          </a:p>
          <a:p>
            <a:pPr algn="l">
              <a:spcBef>
                <a:spcPts val="900"/>
              </a:spcBef>
            </a:pPr>
            <a:r>
              <a:rPr sz="1100" b="0">
                <a:solidFill>
                  <a:srgbClr val="FFFFFF"/>
                </a:solidFill>
              </a:rPr>
              <a:t>✓  Explain the verification process for laborers</a:t>
            </a:r>
          </a:p>
          <a:p>
            <a:pPr algn="l">
              <a:spcBef>
                <a:spcPts val="900"/>
              </a:spcBef>
            </a:pPr>
            <a:r>
              <a:rPr sz="1100" b="0">
                <a:solidFill>
                  <a:srgbClr val="FFFFFF"/>
                </a:solidFill>
              </a:rPr>
              <a:t>✓  Provide general pricing guidance</a:t>
            </a:r>
          </a:p>
          <a:p>
            <a:pPr algn="l">
              <a:spcBef>
                <a:spcPts val="900"/>
              </a:spcBef>
            </a:pPr>
            <a:r>
              <a:rPr sz="1100" b="0">
                <a:solidFill>
                  <a:srgbClr val="FFFFFF"/>
                </a:solidFill>
              </a:rPr>
              <a:t>✓  Help customers navigate the platform</a:t>
            </a:r>
          </a:p>
          <a:p>
            <a:pPr algn="l">
              <a:spcBef>
                <a:spcPts val="900"/>
              </a:spcBef>
            </a:pPr>
            <a:r>
              <a:rPr sz="1100" b="0">
                <a:solidFill>
                  <a:srgbClr val="FFFFFF"/>
                </a:solidFill>
              </a:rPr>
              <a:t>✓  Contextual conversation history support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Booking Lifecycle &amp;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End-to-End Booking State Machine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648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Skilled Labor App  |  Final Year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26080"/>
            <a:ext cx="18288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971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337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Customer submits booking
with service, date, location &amp; price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1645920"/>
            <a:ext cx="182880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1691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ACCEPTED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057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Laborer accepts
the job request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4206240"/>
            <a:ext cx="1828800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425195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DECLINED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617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Laborer declines
the request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1645920"/>
            <a:ext cx="1828800" cy="9144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1691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2057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Laborer marks
job as started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645920"/>
            <a:ext cx="182880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59" y="1691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2057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Job done, chat closed,
rating prompt shown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206240"/>
            <a:ext cx="1828800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69080" y="425195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CANCELLED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617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Customer cancels
before start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4206240"/>
            <a:ext cx="1828800" cy="914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59" y="425195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RESCHEDULED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4617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Booking date/time
changed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280160"/>
            <a:ext cx="365760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📝  Booking Details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1783080"/>
            <a:ext cx="33832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050" b="0">
                <a:solidFill>
                  <a:srgbClr val="2C3E50"/>
                </a:solidFill>
              </a:rPr>
              <a:t>• Customer selects laborer from search/profile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2C3E50"/>
                </a:solidFill>
              </a:rPr>
              <a:t>• Specifies service, description, date &amp; time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2C3E50"/>
                </a:solidFill>
              </a:rPr>
              <a:t>• Provides location (GPS or manual address)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2C3E50"/>
                </a:solidFill>
              </a:rPr>
              <a:t>• Sets agreed compensation amount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2C3E50"/>
                </a:solidFill>
              </a:rPr>
              <a:t>• Laborer notified via push notification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2C3E50"/>
                </a:solidFill>
              </a:rPr>
              <a:t>• Chat thread created on acceptance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2C3E50"/>
                </a:solidFill>
              </a:rPr>
              <a:t>• Work photos can be uploaded (Multer)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2C3E50"/>
                </a:solidFill>
              </a:rPr>
              <a:t>• Full audit log tracked on each booking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2C3E50"/>
                </a:solidFill>
              </a:rPr>
              <a:t>• Payment status: Pending → Paid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2C3E50"/>
                </a:solidFill>
              </a:rPr>
              <a:t>• Rating enabled only after completion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2C3E50"/>
                </a:solidFill>
              </a:rPr>
              <a:t>• Admin can view all bookings from web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Verification &amp; Trust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Multi-Step Identity Verification for Laborers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648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Skilled Labor App  |  Final Year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4864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35607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325880"/>
            <a:ext cx="256032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6303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REGISTER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325880"/>
            <a:ext cx="5212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417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Laborer signs up with phone number and sets password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76272"/>
            <a:ext cx="548640" cy="685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176272"/>
            <a:ext cx="2560320" cy="685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3134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SUBMIT DOCS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2176272"/>
            <a:ext cx="5212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22677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Upload: Profile photo + National ID card image via Expo Image Picker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026664"/>
            <a:ext cx="548640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1363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026664"/>
            <a:ext cx="2560320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16382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PENDING REVIEW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3026664"/>
            <a:ext cx="5212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311810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Admin receives notification and views submitted documents in dashboard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877056"/>
            <a:ext cx="548640" cy="6858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398678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3877056"/>
            <a:ext cx="2560320" cy="6858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01421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ADMIN DECISION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3877056"/>
            <a:ext cx="5212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20" y="396849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Admin approves (status=approved) or rejects (with reason) via 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727448"/>
            <a:ext cx="54864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83717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727448"/>
            <a:ext cx="256032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8646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NOTIFICATION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4727448"/>
            <a:ext cx="5212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03320" y="481888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Laborer receives in-app notification: approved or rejected with reason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577840"/>
            <a:ext cx="548640" cy="685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56875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5577840"/>
            <a:ext cx="2560320" cy="685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57150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RE-SUBMIT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5577840"/>
            <a:ext cx="5212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03320" y="56692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</a:rPr>
              <a:t>If rejected, laborer can correct and re-submit documents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52560" y="1325880"/>
            <a:ext cx="2926080" cy="5074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🔐  Trust Mechanisms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1874519"/>
            <a:ext cx="2743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050" b="0">
                <a:solidFill>
                  <a:srgbClr val="FFFFFF"/>
                </a:solidFill>
              </a:rPr>
              <a:t>✓  Status-gated API access</a:t>
            </a:r>
          </a:p>
          <a:p>
            <a:pPr algn="l">
              <a:spcBef>
                <a:spcPts val="800"/>
              </a:spcBef>
            </a:pPr>
            <a:r>
              <a:rPr sz="1050" b="0">
                <a:solidFill>
                  <a:srgbClr val="FFFFFF"/>
                </a:solidFill>
              </a:rPr>
              <a:t>✓  Blocked laborers get 403</a:t>
            </a:r>
          </a:p>
          <a:p>
            <a:pPr algn="l">
              <a:spcBef>
                <a:spcPts val="800"/>
              </a:spcBef>
            </a:pPr>
            <a:r>
              <a:rPr sz="1050" b="0">
                <a:solidFill>
                  <a:srgbClr val="FFFFFF"/>
                </a:solidFill>
              </a:rPr>
              <a:t>✓  Account warnings system</a:t>
            </a:r>
          </a:p>
          <a:p>
            <a:pPr algn="l">
              <a:spcBef>
                <a:spcPts val="800"/>
              </a:spcBef>
            </a:pPr>
            <a:r>
              <a:rPr sz="1050" b="0">
                <a:solidFill>
                  <a:srgbClr val="FFFFFF"/>
                </a:solidFill>
              </a:rPr>
              <a:t>✓  Temp &amp; permanent blocks</a:t>
            </a:r>
          </a:p>
          <a:p>
            <a:pPr algn="l">
              <a:spcBef>
                <a:spcPts val="800"/>
              </a:spcBef>
            </a:pPr>
            <a:r>
              <a:rPr sz="1050" b="0">
                <a:solidFill>
                  <a:srgbClr val="FFFFFF"/>
                </a:solidFill>
              </a:rPr>
              <a:t>✓  blockInfo audit trail</a:t>
            </a:r>
          </a:p>
          <a:p>
            <a:pPr algn="l">
              <a:spcBef>
                <a:spcPts val="800"/>
              </a:spcBef>
            </a:pPr>
            <a:r>
              <a:rPr sz="1050" b="0">
                <a:solidFill>
                  <a:srgbClr val="FFFFFF"/>
                </a:solidFill>
              </a:rPr>
              <a:t>✓  verificationHistory log</a:t>
            </a:r>
          </a:p>
          <a:p>
            <a:pPr algn="l">
              <a:spcBef>
                <a:spcPts val="800"/>
              </a:spcBef>
            </a:pPr>
            <a:r>
              <a:rPr sz="1050" b="0">
                <a:solidFill>
                  <a:srgbClr val="FFFFFF"/>
                </a:solidFill>
              </a:rPr>
              <a:t>✓  Admin action audit log</a:t>
            </a:r>
          </a:p>
          <a:p>
            <a:pPr algn="l">
              <a:spcBef>
                <a:spcPts val="800"/>
              </a:spcBef>
            </a:pPr>
            <a:r>
              <a:rPr sz="1050" b="0">
                <a:solidFill>
                  <a:srgbClr val="FFFFFF"/>
                </a:solidFill>
              </a:rPr>
              <a:t>✓  Submission stored safely</a:t>
            </a:r>
          </a:p>
          <a:p>
            <a:pPr algn="l">
              <a:spcBef>
                <a:spcPts val="800"/>
              </a:spcBef>
            </a:pPr>
            <a:r>
              <a:rPr sz="1050" b="0">
                <a:solidFill>
                  <a:srgbClr val="FFFFFF"/>
                </a:solidFill>
              </a:rPr>
              <a:t>✓  Profile updated only on approval</a:t>
            </a:r>
          </a:p>
          <a:p>
            <a:pPr algn="l">
              <a:spcBef>
                <a:spcPts val="800"/>
              </a:spcBef>
            </a:pPr>
            <a:r>
              <a:rPr sz="1050" b="0">
                <a:solidFill>
                  <a:srgbClr val="FFFFFF"/>
                </a:solidFill>
              </a:rPr>
              <a:t>✓  ID card images stored securely</a:t>
            </a:r>
          </a:p>
          <a:p>
            <a:pPr algn="l">
              <a:spcBef>
                <a:spcPts val="800"/>
              </a:spcBef>
            </a:pPr>
            <a:r>
              <a:rPr sz="1050" b="0">
                <a:solidFill>
                  <a:srgbClr val="FFFFFF"/>
                </a:solidFill>
              </a:rPr>
              <a:t>✓  Laborer visible in search only when approved + available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Ratings &amp; Reviews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Quality Assurance Through Peer Accountability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648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Skilled Labor App  |  Final Year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731520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7160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⭐  Rating System Details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28800"/>
            <a:ext cx="19202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86537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When triggered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187451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Only after booking status = 'Completed' — prevents fake reviews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258568"/>
            <a:ext cx="19202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29514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Who rates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304287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Customer rates the laborer (not bidirectional at this stage)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688336"/>
            <a:ext cx="19202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7249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7340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0.5 to 5 stars (half-star precision) with optional comment (max 500 chars)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118104"/>
            <a:ext cx="19202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154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Uniqueness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1638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One rating per customer per booking (unique index in JobRating model)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547872"/>
            <a:ext cx="19202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5844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Average calc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3593591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Server recalculates laborer's average rating using ratingUtils.js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977639"/>
            <a:ext cx="19202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14215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Formula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02335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newAvg = (oldAvg × oldCount + newRating) / (oldCount + 1)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407408"/>
            <a:ext cx="19202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44398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445312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JobRating model + laborer.rating field updated atomically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837176"/>
            <a:ext cx="19202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8737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Display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48828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Shown on laborer profile, search results, and customer's booking history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5266944"/>
            <a:ext cx="19202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53035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Admin 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23160" y="53126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Admins can see ratings when taking account actions (warnings/blocks)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696712"/>
            <a:ext cx="19202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7332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5742431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Low ratings can trigger admin warnings and account actions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0" y="1280160"/>
            <a:ext cx="4023360" cy="4983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01000" y="1371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📈  Impact on Platform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1874519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150" b="0">
                <a:solidFill>
                  <a:srgbClr val="FFFFFF"/>
                </a:solidFill>
              </a:rPr>
              <a:t>→  Highly-rated laborers appear first in search results</a:t>
            </a:r>
          </a:p>
          <a:p>
            <a:pPr algn="l">
              <a:spcBef>
                <a:spcPts val="1000"/>
              </a:spcBef>
            </a:pPr>
            <a:r>
              <a:rPr sz="1150" b="0">
                <a:solidFill>
                  <a:srgbClr val="FFFFFF"/>
                </a:solidFill>
              </a:rPr>
              <a:t>→  Rating visible on public laborer profile</a:t>
            </a:r>
          </a:p>
          <a:p>
            <a:pPr algn="l">
              <a:spcBef>
                <a:spcPts val="1000"/>
              </a:spcBef>
            </a:pPr>
            <a:r>
              <a:rPr sz="1150" b="0">
                <a:solidFill>
                  <a:srgbClr val="FFFFFF"/>
                </a:solidFill>
              </a:rPr>
              <a:t>→  Customer confidence before booking</a:t>
            </a:r>
          </a:p>
          <a:p>
            <a:pPr algn="l">
              <a:spcBef>
                <a:spcPts val="1000"/>
              </a:spcBef>
            </a:pPr>
            <a:r>
              <a:rPr sz="1150" b="0">
                <a:solidFill>
                  <a:srgbClr val="FFFFFF"/>
                </a:solidFill>
              </a:rPr>
              <a:t>→  Admin uses rating in warning/block decisions</a:t>
            </a:r>
          </a:p>
          <a:p>
            <a:pPr algn="l">
              <a:spcBef>
                <a:spcPts val="1000"/>
              </a:spcBef>
            </a:pPr>
            <a:r>
              <a:rPr sz="1150" b="0">
                <a:solidFill>
                  <a:srgbClr val="FFFFFF"/>
                </a:solidFill>
              </a:rPr>
              <a:t>→  Laborers motivated to deliver quality service</a:t>
            </a:r>
          </a:p>
          <a:p>
            <a:pPr algn="l">
              <a:spcBef>
                <a:spcPts val="1000"/>
              </a:spcBef>
            </a:pPr>
            <a:r>
              <a:rPr sz="1150" b="0">
                <a:solidFill>
                  <a:srgbClr val="FFFFFF"/>
                </a:solidFill>
              </a:rPr>
              <a:t>→  Review comment provides qualitative feedback</a:t>
            </a:r>
          </a:p>
          <a:p>
            <a:pPr algn="l">
              <a:spcBef>
                <a:spcPts val="1000"/>
              </a:spcBef>
            </a:pPr>
            <a:r>
              <a:rPr sz="1150" b="0">
                <a:solidFill>
                  <a:srgbClr val="FFFFFF"/>
                </a:solidFill>
              </a:rPr>
              <a:t>→  Completed jobs counter builds credibility</a:t>
            </a:r>
          </a:p>
          <a:p>
            <a:pPr algn="l">
              <a:spcBef>
                <a:spcPts val="1000"/>
              </a:spcBef>
            </a:pPr>
            <a:r>
              <a:rPr sz="1150" b="0">
                <a:solidFill>
                  <a:srgbClr val="FFFFFF"/>
                </a:solidFill>
              </a:rPr>
              <a:t>→  Rating at time of warning stored in blockInfo</a:t>
            </a:r>
          </a:p>
          <a:p>
            <a:pPr algn="l">
              <a:spcBef>
                <a:spcPts val="1000"/>
              </a:spcBef>
            </a:pPr>
            <a:r>
              <a:rPr sz="1150" b="0">
                <a:solidFill>
                  <a:srgbClr val="FFFFFF"/>
                </a:solidFill>
              </a:rPr>
              <a:t>→  Creates accountability in the marketplace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Service Categories &amp; Subcategories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12 Main Categories · 48+ Subcategory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648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Skilled Labor App  |  Final Year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325880"/>
            <a:ext cx="2834640" cy="1645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990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🔧  Mounting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8308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TV Mounting · Furniture Mounting · Shelf Mounting · Art &amp; Mirror Mounting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325880"/>
            <a:ext cx="2834640" cy="1645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3990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🪛  Assembly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78308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Furniture · Exercise Equipment · Patio Furniture · Desk Assembly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325880"/>
            <a:ext cx="2834640" cy="16459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3990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📦  Moving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78308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Help Moving · Truck Assisted Moving · Packing Services · Heavy Lifting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325880"/>
            <a:ext cx="2834640" cy="1645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3990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✨  Cleaning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78308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House Cleaning · Deep Cleaning · Move In/Out Cleaning · Carpet Cleaning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108960"/>
            <a:ext cx="2834640" cy="1645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1821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💡  Electrician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56616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Wiring · Lighting · Outlet Repair · Circuit Breaker · Panel Upgrades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3108960"/>
            <a:ext cx="2834640" cy="1645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31821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🎨  Painter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56616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Interior · Exterior · Cabinet Painting · Wallpaper Installation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108960"/>
            <a:ext cx="2834640" cy="1645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1821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🔨  Carpenter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56616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Custom Shelving · Cabinet Installation · Trim &amp; Molding · Door Repair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3108960"/>
            <a:ext cx="2834640" cy="1645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31821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❄️  HVAC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56616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AC Install/Repair · Heater Repair · Duct Cleaning · Thermostat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4892040"/>
            <a:ext cx="2834640" cy="16459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9651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🏠  Roofing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53492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Roof Inspection · Leak Repair · Shingle Replacement · Gutter Cleaning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4892040"/>
            <a:ext cx="2834640" cy="1645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0" y="49651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🟫  Tiling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53492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Floor Tiling · Wall Tiling · Backsplash Installation · Grout Repair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4892040"/>
            <a:ext cx="2834640" cy="1645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49651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🌿  Gardening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3492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Lawn Mowing · Weeding · Planting · Tree Trimming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4892040"/>
            <a:ext cx="2834640" cy="1645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49651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⚙️  Appliance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53492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Fridge · Washer/Dryer · Dishwasher · Oven/Stove Repair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API Design &amp;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RESTful JSON API – Express.js Router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648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Skilled Labor App  |  Final Year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280160"/>
            <a:ext cx="260604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280160"/>
            <a:ext cx="260604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32588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1755648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POST /api/users  →  Register laborer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POST /api/users/login  →  Login (JWT token)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GET  /api/users  →  List all users (admin)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GET  /api/users/profile  →  My profile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PUT  /api/users/availability  →  Toggle availability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PUT  /api/users/location  →  Update GPS location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PUT  /api/users/subcategories  →  Update skill set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PUT  /api/users/:id/verification  →  Submit docs (multipart)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PUT  /api/users/:id/status  →  Admin: change status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PUT  /api/users/:id/account-action  →  Admin: warn/block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GET  /api/users/:id/public  →  Public laborer profile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GET  /api/users/notifications  →  Get notifications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1280160"/>
            <a:ext cx="260604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14600" y="1280160"/>
            <a:ext cx="2606040" cy="4114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132588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Bookings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7752" y="1755648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POST /api/bookings  →  Create booking (customer)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GET  /api/bookings  →  My bookings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GET  /api/bookings/:id  →  Booking details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PUT  /api/bookings/:id  →  Update status (laborer)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POST /api/bookings/:id/cancel  →  Cancel (customer)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POST /api/bookings/:id/rate  →  Submit rating (customer)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1280160"/>
            <a:ext cx="260604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00600" y="1280160"/>
            <a:ext cx="260604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132588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1755648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POST /api/services  →  Create/update offering (laborer)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GET  /api/services/mine  →  My offerings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DELETE /api/services/:id  →  Remove offering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GET  /api/services/search-laborers  →  Search (public)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1280160"/>
            <a:ext cx="260604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86600" y="1280160"/>
            <a:ext cx="260604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132588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1755648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GET  /api/chat  →  My chats list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GET  /api/chat/:id/messages  →  Chat history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POST /api/chat/:id/messages  →  Send message (REST fallback)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POST /api/chat/:id/read  →  Mark as read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1280160"/>
            <a:ext cx="260604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72600" y="1280160"/>
            <a:ext cx="2606040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32588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1755648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GET /api/dashboard  →  Admin stats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GET /api/dashboard/laborer-stats  →  Laborer analytics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GET /api/categories  →  All categories+subcategories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POST /api/chatbot/message  →  AI chatbot</a:t>
            </a:r>
          </a:p>
          <a:p>
            <a:pPr algn="l">
              <a:spcBef>
                <a:spcPts val="500"/>
              </a:spcBef>
            </a:pPr>
            <a:r>
              <a:rPr sz="850" b="0">
                <a:solidFill>
                  <a:srgbClr val="2C3E50"/>
                </a:solidFill>
              </a:rPr>
              <a:t>GET /api/customers  →  Customer list (admin)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Testing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Jest + Supertest – Backend Unit &amp; Integration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648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Skilled Labor App  |  Final Year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5760720" cy="498348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📁  Test Files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83080"/>
            <a:ext cx="5577840" cy="365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1965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booking_customer_actions.test.js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8288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Customer booking cancellation and status change 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21991"/>
            <a:ext cx="5577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585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booking_detail_authorization.test.js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26771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Authorization checks on booking detail access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60904"/>
            <a:ext cx="5577840" cy="365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974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booking_filtering.test.js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70662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Booking filter by status, date, and user role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99815"/>
            <a:ext cx="5577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136391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booking_getById.test.js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145535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Single booking retrieval and response format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538728"/>
            <a:ext cx="5577840" cy="365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5753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booking_response.test.js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5844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Booking API response structure validation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77639"/>
            <a:ext cx="5577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014215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booking_service_consistency.test.js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02335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Service data consistency across booking flow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416552"/>
            <a:ext cx="5577840" cy="365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4531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booking_visibility.test.js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44622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Which bookings each role can see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855464"/>
            <a:ext cx="5577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8920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customer_signup.test.js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4901183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Customer registration, validation, duplicate checks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294376"/>
            <a:ext cx="5577840" cy="365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3309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customers_flow.test.js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534009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Full customer lifecycle flow testing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733288"/>
            <a:ext cx="5577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7698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customers_isolation.test.js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3240" y="57790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Customer data isolation between users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1280160"/>
            <a:ext cx="5577840" cy="4983480"/>
          </a:xfrm>
          <a:prstGeom prst="rect">
            <a:avLst/>
          </a:prstGeom>
          <a:solidFill>
            <a:srgbClr val="FFFFFF"/>
          </a:solidFill>
          <a:ln w="635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13533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085"/>
                </a:solidFill>
              </a:rPr>
              <a:t>📁  Test Files (2/2)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1783080"/>
            <a:ext cx="5394960" cy="365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181965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085"/>
                </a:solidFill>
              </a:rPr>
              <a:t>customers_location.test.js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Location update and query functionality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2221991"/>
            <a:ext cx="5394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22585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085"/>
                </a:solidFill>
              </a:rPr>
              <a:t>laborer_signup.test.js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226771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Laborer registration with phone number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2660904"/>
            <a:ext cx="5394960" cy="365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269748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085"/>
                </a:solidFill>
              </a:rPr>
              <a:t>notification.test.js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27066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Notification creation and read marking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3099815"/>
            <a:ext cx="5394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3136391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085"/>
                </a:solidFill>
              </a:rPr>
              <a:t>rating_flow.test.js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314553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End-to-end rating submission and average update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3538728"/>
            <a:ext cx="5394960" cy="365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357530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085"/>
                </a:solidFill>
              </a:rPr>
              <a:t>rating_utils.test.js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6840" y="3584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Rating calculation algorithm unit tests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3977639"/>
            <a:ext cx="5394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4014215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085"/>
                </a:solidFill>
              </a:rPr>
              <a:t>search_filters.test.js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06840" y="40233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Laborer search with various filter combinations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4416552"/>
            <a:ext cx="5394960" cy="365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92240" y="445312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085"/>
                </a:solidFill>
              </a:rPr>
              <a:t>search_laborers.test.js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06840" y="4462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Search by category, subcategory, location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4855464"/>
            <a:ext cx="5394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92240" y="48920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085"/>
                </a:solidFill>
              </a:rPr>
              <a:t>search_visibility.test.js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06840" y="490118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Only approved+available laborers appear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5294376"/>
            <a:ext cx="5394960" cy="365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92240" y="533095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085"/>
                </a:solidFill>
              </a:rPr>
              <a:t>verification_api.test.js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06840" y="53400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Document submission API endpoint tests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0" y="5733288"/>
            <a:ext cx="5394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92240" y="576986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085"/>
                </a:solidFill>
              </a:rPr>
              <a:t>verification_workflow.test.js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06840" y="5779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Admin approval/rejection workflow tests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Security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Multi-Layer Security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648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Skilled Labor App  |  Final Year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3749039" cy="2468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5331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🔐 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55648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JWT (JSON Web Tokens) for stateless auth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Tokens embed user ID and role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Bearer token sent in every API request header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Token verified by protect middleware on every route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Socket.IO connections also require valid JWT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Separate token decoding for Customer vs User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280160"/>
            <a:ext cx="3749039" cy="24688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135331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🔒  Password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399" y="1755648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bcryptjs for password hashing (cost factor ≥ 10)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Passwords never stored in plain text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Password never returned in API responses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Change password endpoint with current password check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No password reset via email (phone-based auth)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3749039" cy="24688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5331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🛡️  Authorization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55648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Role-based access control (RBAC)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admin middleware guards admin-only routes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Laborer data access gated by account status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Blocked laborers receive 403 on API calls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Customers can only see their own bookings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Laborers can only see their own job requests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886200"/>
            <a:ext cx="3749039" cy="2468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95935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📁  File Upload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361688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Multer middleware restricts upload types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Files stored in /uploads (server local)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Static file serving via express.static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Profile images and ID cards processed separately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File size limits enforced by Multer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3886200"/>
            <a:ext cx="3749039" cy="24688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399" y="395935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🌐  Network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399" y="4361688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CORS configured (origin: * for dev, restricted in prod)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HTTPS recommended for production deployment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Environment variables via .env (dotenv)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Secrets never committed to source code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express.json() limits JSON body size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886200"/>
            <a:ext cx="3749039" cy="2468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95935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📋  Audit &amp; 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361688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Full booking audit log (log[] array)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Admin action logging via AuditLog model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verificationHistory tracks every status change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blockInfo stores who blocked and why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Warning history with reason and timestamp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FFFFFF"/>
                </a:solidFill>
              </a:rPr>
              <a:t>• HTTP request logging middleware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Planned Features &amp;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648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Skilled Labor App  |  Final Year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3749039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898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💳  Online Payment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6479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Integrate Stripe/PayPal for in-app payments, escrow system, and automated payouts to laborers after job completion.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325880"/>
            <a:ext cx="3749039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13898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🌟  Beauty &amp; Personal 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399" y="176479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Expand into beauty services: hair styling, makeup, nail care, spa services (already teased in Future Services carousel).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25880"/>
            <a:ext cx="3749039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898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🚗  Car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6479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Vehicle maintenance, car wash, oil change, roadside assistance categories (previewed in the app).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697480"/>
            <a:ext cx="3749039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7614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👗  Tailoring &amp; Fashion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13639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Custom clothing, alterations, and fashion design services (teased in future carousel).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2697480"/>
            <a:ext cx="3749039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399" y="27614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📍  Advanced Location Matching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399" y="313639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Match customers with nearby laborers using geospatial queries (MongoDB 2dsphere index), real-time laborer tracking.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2697480"/>
            <a:ext cx="3749039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7614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📱  Push Notifications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13639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Firebase Cloud Messaging (FCM) for real-time push notifications even when the app is closed.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069080"/>
            <a:ext cx="3749039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1330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🔄  Subscription Plans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50799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Monthly subscription for laborers to appear in premium spots, advanced analytics, and priority support.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4069080"/>
            <a:ext cx="3749039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399" y="41330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🤝  Bidding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399" y="450799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Allow multiple laborers to bid on a job request; customer picks the best offer.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4069080"/>
            <a:ext cx="3749039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1330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📈  Advanced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50799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Detailed reporting for admins: revenue trends, popular services, peak hours, laborer performance.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440680"/>
            <a:ext cx="3749039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5046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🌍  Multi-City Expansion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87959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Scale to multiple cities with city-based filtering and regional admin dashboards.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59" y="5440680"/>
            <a:ext cx="3749039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399" y="55046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⭐  Laborer Rates Customer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399" y="587959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Bidirectional rating system for laborer to rate customer behavior and reliability.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5440680"/>
            <a:ext cx="3749039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55046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��  Group Bookings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87959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Allow a team of laborers for large projects, with split compensation.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Summary &amp;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What We Built – By The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6480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Skilled Labor App  |  Final Year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651760" cy="2057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User Roles
(Customer, Laborer, Admin)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371600"/>
            <a:ext cx="2651760" cy="20574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5544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5146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Service
Categories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2651760" cy="2057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544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48+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5146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Service
Subcategories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371600"/>
            <a:ext cx="2651760" cy="2057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5544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10+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5146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MongoDB
Models / Collections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03320"/>
            <a:ext cx="2651760" cy="2057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20+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API
Endpoints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3703320"/>
            <a:ext cx="2651760" cy="20574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38862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8463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Backend
Test Files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703320"/>
            <a:ext cx="2651760" cy="2057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8862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8463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LLM Models
in AI Fallback Chain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3703320"/>
            <a:ext cx="2651760" cy="2057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8280" y="38862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48463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Frontend
Applications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5A623"/>
                </a:solidFill>
              </a:rPr>
              <a:t>Skilled Labor App – Bringing Trust to the Home Services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Built a complete full-stack application covering mobile, web, and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67128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Solved a real-world problem of unorganized skilled labor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51176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Implemented secure, scalable architecture with JWT, bcrypt, and role-based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35224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Real-time features via Socket.IO provide instant communication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9272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AI chatbot integration enhances user experience with intelligent guidance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Robust testing coverage ensures reliability with 20+ test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87368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Admin dashboard provides complete platform governance and transparency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71416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Verification system builds trust between customers and laborers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5760720"/>
            <a:ext cx="5760720" cy="731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5779008"/>
            <a:ext cx="5760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3A5F"/>
                </a:solidFill>
              </a:rPr>
              <a:t>🙋  QUESTIONS &amp; ANSWERS  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