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12188952" cy="7315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</a:rPr>
              <a:t>SKILLED LABOR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F5A623"/>
                </a:solidFill>
              </a:rPr>
              <a:t>Connecting Customers with Verified Skilled Professionals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75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AEC6CF"/>
                </a:solidFill>
              </a:rPr>
              <a:t>A Full-Stack Mobile + Web Application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6576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85C1E9"/>
                </a:solidFill>
              </a:rPr>
              <a:t>React Native  ·  Expo  ·  Node.js  ·  MongoDB  ·  Socket.IO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0350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7F8C8D"/>
                </a:solidFill>
              </a:rPr>
              <a:t>Final Year Project  |  Viva Voce Presentation  |  2026</a:t>
            </a:r>
          </a:p>
        </p:txBody>
      </p:sp>
      <p:pic>
        <p:nvPicPr>
          <p:cNvPr id="9" name="Picture 8" descr="logo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91440"/>
            <a:ext cx="640080" cy="327894"/>
          </a:xfrm>
          <a:prstGeom prst="rect">
            <a:avLst/>
          </a:prstGeom>
        </p:spPr>
      </p:pic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7432" y="9144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Table of 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00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5A623"/>
                </a:solidFill>
              </a:rPr>
              <a:t>What We Will Cover Today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464808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DC3C7"/>
                </a:solidFill>
              </a:rPr>
              <a:t>Skilled Labor App  |  Final Year Project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371600"/>
            <a:ext cx="411480" cy="34747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371600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389888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</a:rPr>
              <a:t>Problem Statement &amp; Motivation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828800"/>
            <a:ext cx="411480" cy="34747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" y="1828800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847088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</a:rPr>
              <a:t>Project Overview &amp; Objectives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286000"/>
            <a:ext cx="411480" cy="34747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2286000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304288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</a:rPr>
              <a:t>System Architecture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743200"/>
            <a:ext cx="411480" cy="34747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" y="2743200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2761488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</a:rPr>
              <a:t>Technology Stack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200400"/>
            <a:ext cx="411480" cy="34747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3200400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3218688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</a:rPr>
              <a:t>Database Design &amp; Models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657600"/>
            <a:ext cx="411480" cy="34747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" y="3657600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3675887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</a:rPr>
              <a:t>User Roles &amp; Authentication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4114800"/>
            <a:ext cx="411480" cy="34747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320" y="4114800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133087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</a:rPr>
              <a:t>Mobile App – Customer Features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4572000"/>
            <a:ext cx="411480" cy="34747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4320" y="4572000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590288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</a:rPr>
              <a:t>Mobile App – Laborer Features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029200"/>
            <a:ext cx="411480" cy="34747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4320" y="5029200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047488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</a:rPr>
              <a:t>Admin Dashboard (Web)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486400"/>
            <a:ext cx="411480" cy="34747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4320" y="5486400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504688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</a:rPr>
              <a:t>Real-Time Chat &amp; Socket.IO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1371600"/>
            <a:ext cx="411480" cy="34747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0" y="1371600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E3A5F"/>
                </a:solidFill>
              </a:rPr>
              <a:t>11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13898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</a:rPr>
              <a:t>AI Chatbot Integration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0" y="1828800"/>
            <a:ext cx="411480" cy="34747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1828800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E3A5F"/>
                </a:solidFill>
              </a:rPr>
              <a:t>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03720" y="18470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</a:rPr>
              <a:t>Booking Lifecycle &amp; Workflow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00800" y="2286000"/>
            <a:ext cx="411480" cy="34747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00800" y="2286000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E3A5F"/>
                </a:solidFill>
              </a:rPr>
              <a:t>13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03720" y="23042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</a:rPr>
              <a:t>Verification &amp; Trust System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0" y="2743200"/>
            <a:ext cx="411480" cy="34747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0" y="2743200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E3A5F"/>
                </a:solidFill>
              </a:rPr>
              <a:t>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03720" y="27614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</a:rPr>
              <a:t>Ratings &amp; Reviews System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00800" y="3200400"/>
            <a:ext cx="411480" cy="34747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00800" y="3200400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E3A5F"/>
                </a:solidFill>
              </a:rPr>
              <a:t>15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03720" y="32186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</a:rPr>
              <a:t>Service Categories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00800" y="3657600"/>
            <a:ext cx="411480" cy="34747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0" y="3657600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E3A5F"/>
                </a:solidFill>
              </a:rPr>
              <a:t>16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03720" y="3675887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</a:rPr>
              <a:t>API Design &amp; Endpoints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400800" y="4114800"/>
            <a:ext cx="411480" cy="34747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00800" y="4114800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E3A5F"/>
                </a:solidFill>
              </a:rPr>
              <a:t>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03720" y="4133087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</a:rPr>
              <a:t>Testing Strategy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00800" y="4572000"/>
            <a:ext cx="411480" cy="34747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00800" y="4572000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E3A5F"/>
                </a:solidFill>
              </a:rPr>
              <a:t>18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903720" y="45902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</a:rPr>
              <a:t>Security Implementation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400800" y="5029200"/>
            <a:ext cx="411480" cy="34747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00800" y="5029200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E3A5F"/>
                </a:solidFill>
              </a:rPr>
              <a:t>19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903720" y="50474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</a:rPr>
              <a:t>Future Enhancements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400800" y="5486400"/>
            <a:ext cx="411480" cy="34747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00800" y="5486400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E3A5F"/>
                </a:solidFill>
              </a:rPr>
              <a:t>20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903720" y="55046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</a:rPr>
              <a:t>Conclusion &amp; Q&amp;A</a:t>
            </a:r>
          </a:p>
        </p:txBody>
      </p:sp>
      <p:pic>
        <p:nvPicPr>
          <p:cNvPr id="68" name="Picture 67" descr="logo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91440"/>
            <a:ext cx="640080" cy="327894"/>
          </a:xfrm>
          <a:prstGeom prst="rect">
            <a:avLst/>
          </a:prstGeom>
        </p:spPr>
      </p:pic>
      <p:pic>
        <p:nvPicPr>
          <p:cNvPr id="69" name="Picture 68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7432" y="9144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Problem Statement &amp; Motivation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464808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DC3C7"/>
                </a:solidFill>
              </a:rPr>
              <a:t>Skilled Labor App  |  Final Year Project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80160"/>
            <a:ext cx="7772400" cy="49377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3716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4C3C"/>
                </a:solidFill>
              </a:rPr>
              <a:t>🔴  Problems Identified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828800"/>
            <a:ext cx="7498079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</a:pPr>
            <a:r>
              <a:rPr sz="1200" b="0">
                <a:solidFill>
                  <a:srgbClr val="2C3E50"/>
                </a:solidFill>
              </a:rPr>
              <a:t>• Finding reliable, verified skilled workers (plumbers, electricians, carpenters etc.) is difficult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2C3E50"/>
                </a:solidFill>
              </a:rPr>
              <a:t>• No centralized platform connecting customers with skilled laborers in real-time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2C3E50"/>
                </a:solidFill>
              </a:rPr>
              <a:t>• Trust issues – no verification system for laborer credentials or qualifications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2C3E50"/>
                </a:solidFill>
              </a:rPr>
              <a:t>• Manual booking via phone calls is inefficient and error-prone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2C3E50"/>
                </a:solidFill>
              </a:rPr>
              <a:t>• Customers have no visibility into laborer availability, ratings, or work history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2C3E50"/>
                </a:solidFill>
              </a:rPr>
              <a:t>• Laborers lack a digital presence to showcase their skills and attract clients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2C3E50"/>
                </a:solidFill>
              </a:rPr>
              <a:t>• No structured payment tracking or booking history for either party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1280160"/>
            <a:ext cx="3657600" cy="49377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60" y="137160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A623"/>
                </a:solidFill>
              </a:rPr>
              <a:t>✅  Our Solution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1828800"/>
            <a:ext cx="33832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200" b="0">
                <a:solidFill>
                  <a:srgbClr val="FFFFFF"/>
                </a:solidFill>
              </a:rPr>
              <a:t>✓  Mobile app for iOS &amp; Android</a:t>
            </a:r>
          </a:p>
          <a:p>
            <a:pPr algn="l">
              <a:spcBef>
                <a:spcPts val="800"/>
              </a:spcBef>
            </a:pPr>
            <a:r>
              <a:rPr sz="1200" b="0">
                <a:solidFill>
                  <a:srgbClr val="FFFFFF"/>
                </a:solidFill>
              </a:rPr>
              <a:t>✓  Web admin dashboard</a:t>
            </a:r>
          </a:p>
          <a:p>
            <a:pPr algn="l">
              <a:spcBef>
                <a:spcPts val="800"/>
              </a:spcBef>
            </a:pPr>
            <a:r>
              <a:rPr sz="1200" b="0">
                <a:solidFill>
                  <a:srgbClr val="FFFFFF"/>
                </a:solidFill>
              </a:rPr>
              <a:t>✓  Identity verification system</a:t>
            </a:r>
          </a:p>
          <a:p>
            <a:pPr algn="l">
              <a:spcBef>
                <a:spcPts val="800"/>
              </a:spcBef>
            </a:pPr>
            <a:r>
              <a:rPr sz="1200" b="0">
                <a:solidFill>
                  <a:srgbClr val="FFFFFF"/>
                </a:solidFill>
              </a:rPr>
              <a:t>✓  Real-time chat via Socket.IO</a:t>
            </a:r>
          </a:p>
          <a:p>
            <a:pPr algn="l">
              <a:spcBef>
                <a:spcPts val="800"/>
              </a:spcBef>
            </a:pPr>
            <a:r>
              <a:rPr sz="1200" b="0">
                <a:solidFill>
                  <a:srgbClr val="FFFFFF"/>
                </a:solidFill>
              </a:rPr>
              <a:t>✓  Location-aware search</a:t>
            </a:r>
          </a:p>
          <a:p>
            <a:pPr algn="l">
              <a:spcBef>
                <a:spcPts val="800"/>
              </a:spcBef>
            </a:pPr>
            <a:r>
              <a:rPr sz="1200" b="0">
                <a:solidFill>
                  <a:srgbClr val="FFFFFF"/>
                </a:solidFill>
              </a:rPr>
              <a:t>✓  Rating &amp; review system</a:t>
            </a:r>
          </a:p>
          <a:p>
            <a:pPr algn="l">
              <a:spcBef>
                <a:spcPts val="800"/>
              </a:spcBef>
            </a:pPr>
            <a:r>
              <a:rPr sz="1200" b="0">
                <a:solidFill>
                  <a:srgbClr val="FFFFFF"/>
                </a:solidFill>
              </a:rPr>
              <a:t>✓  AI-powered chatbot</a:t>
            </a:r>
          </a:p>
          <a:p>
            <a:pPr algn="l">
              <a:spcBef>
                <a:spcPts val="800"/>
              </a:spcBef>
            </a:pPr>
            <a:r>
              <a:rPr sz="1200" b="0">
                <a:solidFill>
                  <a:srgbClr val="FFFFFF"/>
                </a:solidFill>
              </a:rPr>
              <a:t>✓  End-to-end booking flow</a:t>
            </a:r>
          </a:p>
        </p:txBody>
      </p:sp>
      <p:pic>
        <p:nvPicPr>
          <p:cNvPr id="13" name="Picture 12" descr="logo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91440"/>
            <a:ext cx="640080" cy="327894"/>
          </a:xfrm>
          <a:prstGeom prst="rect">
            <a:avLst/>
          </a:prstGeom>
        </p:spPr>
      </p:pic>
      <p:pic>
        <p:nvPicPr>
          <p:cNvPr id="14" name="Picture 1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7432" y="9144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Project Overview &amp; Objectives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464808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DC3C7"/>
                </a:solidFill>
              </a:rPr>
              <a:t>Skilled Labor App  |  Final Year Project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80160"/>
            <a:ext cx="11612880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37160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Skilled Labor App is a full-stack on-demand home services platform connecting customers with verified skilled tradespeople. It provides seamless booking, real-time communication, and a transparent trust system.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468880"/>
            <a:ext cx="3749039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79" y="25603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3A5F"/>
                </a:solidFill>
              </a:rPr>
              <a:t>🎯  Seamless Booking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2926080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Allow customers to find, compare, and book skilled laborers in minutes with location-aware search.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59" y="2468880"/>
            <a:ext cx="3749039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25603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3A5F"/>
                </a:solidFill>
              </a:rPr>
              <a:t>🔐  Trust &amp; Verification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926080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Implement a robust multi-step identity verification workflow with admin approval.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2468880"/>
            <a:ext cx="3749039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25603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3A5F"/>
                </a:solidFill>
              </a:rPr>
              <a:t>💬  Real-Time Communication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2926080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Enable instant messaging between customers and laborers via Socket.IO WebSockets.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389120"/>
            <a:ext cx="3749039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44805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3A5F"/>
                </a:solidFill>
              </a:rPr>
              <a:t>🤖  AI Assistance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79" y="4846320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Integrate an AI chatbot (OpenRouter LLM) to guide users and answer service queries.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51959" y="4389120"/>
            <a:ext cx="3749039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89120" y="44805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3A5F"/>
                </a:solidFill>
              </a:rPr>
              <a:t>📊  Admin Control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4846320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Provide a web-based admin dashboard for full platform management and analytics.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0" y="4389120"/>
            <a:ext cx="3749039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66760" y="44805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3A5F"/>
                </a:solidFill>
              </a:rPr>
              <a:t>⭐  Quality Assurance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60" y="4846320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Drive service quality through a transparent rating and review system post-completion.</a:t>
            </a:r>
          </a:p>
        </p:txBody>
      </p:sp>
      <p:pic>
        <p:nvPicPr>
          <p:cNvPr id="27" name="Picture 26" descr="logo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91440"/>
            <a:ext cx="640080" cy="327894"/>
          </a:xfrm>
          <a:prstGeom prst="rect">
            <a:avLst/>
          </a:prstGeom>
        </p:spPr>
      </p:pic>
      <p:pic>
        <p:nvPicPr>
          <p:cNvPr id="28" name="Picture 27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7432" y="9144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00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5A623"/>
                </a:solidFill>
              </a:rPr>
              <a:t>3-Tier Architecture with Real-Time Layer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464808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DC3C7"/>
                </a:solidFill>
              </a:rPr>
              <a:t>Skilled Labor App  |  Final Year Project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280160"/>
            <a:ext cx="3657600" cy="48463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37160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PRESENTATION LAYER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79" y="1920240"/>
            <a:ext cx="338328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9659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E3A5F"/>
                </a:solidFill>
              </a:rPr>
              <a:t>React Native + Expo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79" y="2697480"/>
            <a:ext cx="338328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7432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E3A5F"/>
                </a:solidFill>
              </a:rPr>
              <a:t>Mobile App (iOS/Android)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79" y="3474720"/>
            <a:ext cx="338328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520439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E3A5F"/>
                </a:solidFill>
              </a:rPr>
              <a:t>Admin Dashboard (React/Vite)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79" y="4251960"/>
            <a:ext cx="338328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297679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E3A5F"/>
                </a:solidFill>
              </a:rPr>
              <a:t>Tailwind CSS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0" y="1280160"/>
            <a:ext cx="3657600" cy="484632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0" y="137160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APPLICATION LAYER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34840" y="1920240"/>
            <a:ext cx="338328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26280" y="19659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E86C1"/>
                </a:solidFill>
              </a:rPr>
              <a:t>Node.js + Express.js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34840" y="2697480"/>
            <a:ext cx="338328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27432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E86C1"/>
                </a:solidFill>
              </a:rPr>
              <a:t>RESTful API Server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34840" y="3474720"/>
            <a:ext cx="338328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26280" y="3520439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E86C1"/>
                </a:solidFill>
              </a:rPr>
              <a:t>Socket.IO WebSocket Server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34840" y="4251960"/>
            <a:ext cx="338328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26280" y="4297679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E86C1"/>
                </a:solidFill>
              </a:rPr>
              <a:t>JWT Authentication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34840" y="5029200"/>
            <a:ext cx="338328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26280" y="50749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E86C1"/>
                </a:solidFill>
              </a:rPr>
              <a:t>Multer File Upload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21040" y="1280160"/>
            <a:ext cx="3657600" cy="4846320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0" y="137160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DATA LAYER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458200" y="1920240"/>
            <a:ext cx="338328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49640" y="19659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6A085"/>
                </a:solidFill>
              </a:rPr>
              <a:t>MongoDB (Atlas)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58200" y="2697480"/>
            <a:ext cx="338328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49640" y="27432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6A085"/>
                </a:solidFill>
              </a:rPr>
              <a:t>Mongoose ODM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458200" y="3474720"/>
            <a:ext cx="338328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49640" y="3520439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6A085"/>
                </a:solidFill>
              </a:rPr>
              <a:t>9 Collections/Models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58200" y="4251960"/>
            <a:ext cx="338328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49640" y="4297679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6A085"/>
                </a:solidFill>
              </a:rPr>
              <a:t>GridFS for file storage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458200" y="5029200"/>
            <a:ext cx="338328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49640" y="50749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6A085"/>
                </a:solidFill>
              </a:rPr>
              <a:t>Indexes for performance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931920" y="3291840"/>
            <a:ext cx="347472" cy="2743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931920" y="3246120"/>
            <a:ext cx="3474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►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955279" y="3291840"/>
            <a:ext cx="347472" cy="2743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955279" y="3246120"/>
            <a:ext cx="3474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►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6217920"/>
            <a:ext cx="11612880" cy="3200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200" y="6236208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E3A5F"/>
                </a:solidFill>
              </a:rPr>
              <a:t>Cross-Cutting Concerns:  JWT Security  |  CORS  |  Error Middleware  |  File Upload (Multer)  |  bcrypt Password Hashing  |  Socket.IO Auth</a:t>
            </a:r>
          </a:p>
        </p:txBody>
      </p:sp>
      <p:pic>
        <p:nvPicPr>
          <p:cNvPr id="48" name="Picture 47" descr="logo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91440"/>
            <a:ext cx="640080" cy="327894"/>
          </a:xfrm>
          <a:prstGeom prst="rect">
            <a:avLst/>
          </a:prstGeom>
        </p:spPr>
      </p:pic>
      <p:pic>
        <p:nvPicPr>
          <p:cNvPr id="49" name="Picture 48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7432" y="9144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00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5A623"/>
                </a:solidFill>
              </a:rPr>
              <a:t>Full-Stack JavaScript Ecosystem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464808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DC3C7"/>
                </a:solidFill>
              </a:rPr>
              <a:t>Skilled Labor App  |  Final Year Project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371600"/>
            <a:ext cx="5760720" cy="25146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79" y="1463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📱 Mobile Frontend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79" y="1874519"/>
            <a:ext cx="5486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150" b="0">
                <a:solidFill>
                  <a:srgbClr val="FFFFFF"/>
                </a:solidFill>
              </a:rPr>
              <a:t>• React Native 0.81.5</a:t>
            </a:r>
          </a:p>
          <a:p>
            <a:pPr algn="l">
              <a:spcBef>
                <a:spcPts val="400"/>
              </a:spcBef>
            </a:pPr>
            <a:r>
              <a:rPr sz="1150" b="0">
                <a:solidFill>
                  <a:srgbClr val="FFFFFF"/>
                </a:solidFill>
              </a:rPr>
              <a:t>• Expo SDK 54</a:t>
            </a:r>
          </a:p>
          <a:p>
            <a:pPr algn="l">
              <a:spcBef>
                <a:spcPts val="400"/>
              </a:spcBef>
            </a:pPr>
            <a:r>
              <a:rPr sz="1150" b="0">
                <a:solidFill>
                  <a:srgbClr val="FFFFFF"/>
                </a:solidFill>
              </a:rPr>
              <a:t>• Expo Router (file-based navigation)</a:t>
            </a:r>
          </a:p>
          <a:p>
            <a:pPr algn="l">
              <a:spcBef>
                <a:spcPts val="400"/>
              </a:spcBef>
            </a:pPr>
            <a:r>
              <a:rPr sz="1150" b="0">
                <a:solidFill>
                  <a:srgbClr val="FFFFFF"/>
                </a:solidFill>
              </a:rPr>
              <a:t>• TypeScript</a:t>
            </a:r>
          </a:p>
          <a:p>
            <a:pPr algn="l">
              <a:spcBef>
                <a:spcPts val="400"/>
              </a:spcBef>
            </a:pPr>
            <a:r>
              <a:rPr sz="1150" b="0">
                <a:solidFill>
                  <a:srgbClr val="FFFFFF"/>
                </a:solidFill>
              </a:rPr>
              <a:t>• React Native Maps (Google Maps)</a:t>
            </a:r>
          </a:p>
          <a:p>
            <a:pPr algn="l">
              <a:spcBef>
                <a:spcPts val="400"/>
              </a:spcBef>
            </a:pPr>
            <a:r>
              <a:rPr sz="1150" b="0">
                <a:solidFill>
                  <a:srgbClr val="FFFFFF"/>
                </a:solidFill>
              </a:rPr>
              <a:t>• Expo Location, Image Picker</a:t>
            </a:r>
          </a:p>
          <a:p>
            <a:pPr algn="l">
              <a:spcBef>
                <a:spcPts val="400"/>
              </a:spcBef>
            </a:pPr>
            <a:r>
              <a:rPr sz="1150" b="0">
                <a:solidFill>
                  <a:srgbClr val="FFFFFF"/>
                </a:solidFill>
              </a:rPr>
              <a:t>• AsyncStorage (local persistence)</a:t>
            </a:r>
          </a:p>
          <a:p>
            <a:pPr algn="l">
              <a:spcBef>
                <a:spcPts val="400"/>
              </a:spcBef>
            </a:pPr>
            <a:r>
              <a:rPr sz="1150" b="0">
                <a:solidFill>
                  <a:srgbClr val="FFFFFF"/>
                </a:solidFill>
              </a:rPr>
              <a:t>• Socket.io-client 4.8.3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371600"/>
            <a:ext cx="5760720" cy="25146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463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🖥️ Admin Dashboard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874519"/>
            <a:ext cx="5486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150" b="0">
                <a:solidFill>
                  <a:srgbClr val="FFFFFF"/>
                </a:solidFill>
              </a:rPr>
              <a:t>• React 18 + TypeScript</a:t>
            </a:r>
          </a:p>
          <a:p>
            <a:pPr algn="l">
              <a:spcBef>
                <a:spcPts val="400"/>
              </a:spcBef>
            </a:pPr>
            <a:r>
              <a:rPr sz="1150" b="0">
                <a:solidFill>
                  <a:srgbClr val="FFFFFF"/>
                </a:solidFill>
              </a:rPr>
              <a:t>• Vite (build tool)</a:t>
            </a:r>
          </a:p>
          <a:p>
            <a:pPr algn="l">
              <a:spcBef>
                <a:spcPts val="400"/>
              </a:spcBef>
            </a:pPr>
            <a:r>
              <a:rPr sz="1150" b="0">
                <a:solidFill>
                  <a:srgbClr val="FFFFFF"/>
                </a:solidFill>
              </a:rPr>
              <a:t>• Tailwind CSS</a:t>
            </a:r>
          </a:p>
          <a:p>
            <a:pPr algn="l">
              <a:spcBef>
                <a:spcPts val="400"/>
              </a:spcBef>
            </a:pPr>
            <a:r>
              <a:rPr sz="1150" b="0">
                <a:solidFill>
                  <a:srgbClr val="FFFFFF"/>
                </a:solidFill>
              </a:rPr>
              <a:t>• React Router DOM</a:t>
            </a:r>
          </a:p>
          <a:p>
            <a:pPr algn="l">
              <a:spcBef>
                <a:spcPts val="400"/>
              </a:spcBef>
            </a:pPr>
            <a:r>
              <a:rPr sz="1150" b="0">
                <a:solidFill>
                  <a:srgbClr val="FFFFFF"/>
                </a:solidFill>
              </a:rPr>
              <a:t>• Axios (HTTP client)</a:t>
            </a:r>
          </a:p>
          <a:p>
            <a:pPr algn="l">
              <a:spcBef>
                <a:spcPts val="400"/>
              </a:spcBef>
            </a:pPr>
            <a:r>
              <a:rPr sz="1150" b="0">
                <a:solidFill>
                  <a:srgbClr val="FFFFFF"/>
                </a:solidFill>
              </a:rPr>
              <a:t>• Hosted separately on web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4023360"/>
            <a:ext cx="5760720" cy="2514600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79" y="411480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⚙️ Backend Server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79" y="4526280"/>
            <a:ext cx="5486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150" b="0">
                <a:solidFill>
                  <a:srgbClr val="FFFFFF"/>
                </a:solidFill>
              </a:rPr>
              <a:t>• Node.js + Express.js 4.18</a:t>
            </a:r>
          </a:p>
          <a:p>
            <a:pPr algn="l">
              <a:spcBef>
                <a:spcPts val="400"/>
              </a:spcBef>
            </a:pPr>
            <a:r>
              <a:rPr sz="1150" b="0">
                <a:solidFill>
                  <a:srgbClr val="FFFFFF"/>
                </a:solidFill>
              </a:rPr>
              <a:t>• Socket.IO 4.8.3 (WebSockets)</a:t>
            </a:r>
          </a:p>
          <a:p>
            <a:pPr algn="l">
              <a:spcBef>
                <a:spcPts val="400"/>
              </a:spcBef>
            </a:pPr>
            <a:r>
              <a:rPr sz="1150" b="0">
                <a:solidFill>
                  <a:srgbClr val="FFFFFF"/>
                </a:solidFill>
              </a:rPr>
              <a:t>• JWT (jsonwebtoken 9.0.3)</a:t>
            </a:r>
          </a:p>
          <a:p>
            <a:pPr algn="l">
              <a:spcBef>
                <a:spcPts val="400"/>
              </a:spcBef>
            </a:pPr>
            <a:r>
              <a:rPr sz="1150" b="0">
                <a:solidFill>
                  <a:srgbClr val="FFFFFF"/>
                </a:solidFill>
              </a:rPr>
              <a:t>• bcryptjs (password hashing)</a:t>
            </a:r>
          </a:p>
          <a:p>
            <a:pPr algn="l">
              <a:spcBef>
                <a:spcPts val="400"/>
              </a:spcBef>
            </a:pPr>
            <a:r>
              <a:rPr sz="1150" b="0">
                <a:solidFill>
                  <a:srgbClr val="FFFFFF"/>
                </a:solidFill>
              </a:rPr>
              <a:t>• Multer (file/image upload)</a:t>
            </a:r>
          </a:p>
          <a:p>
            <a:pPr algn="l">
              <a:spcBef>
                <a:spcPts val="400"/>
              </a:spcBef>
            </a:pPr>
            <a:r>
              <a:rPr sz="1150" b="0">
                <a:solidFill>
                  <a:srgbClr val="FFFFFF"/>
                </a:solidFill>
              </a:rPr>
              <a:t>• dotenv, cors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4023360"/>
            <a:ext cx="5760720" cy="25146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411480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🗄️ Database &amp; 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526280"/>
            <a:ext cx="5486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150" b="0">
                <a:solidFill>
                  <a:srgbClr val="FFFFFF"/>
                </a:solidFill>
              </a:rPr>
              <a:t>• MongoDB (Mongoose ODM 7.6.3)</a:t>
            </a:r>
          </a:p>
          <a:p>
            <a:pPr algn="l">
              <a:spcBef>
                <a:spcPts val="400"/>
              </a:spcBef>
            </a:pPr>
            <a:r>
              <a:rPr sz="1150" b="0">
                <a:solidFill>
                  <a:srgbClr val="FFFFFF"/>
                </a:solidFill>
              </a:rPr>
              <a:t>• 10+ Mongoose models</a:t>
            </a:r>
          </a:p>
          <a:p>
            <a:pPr algn="l">
              <a:spcBef>
                <a:spcPts val="400"/>
              </a:spcBef>
            </a:pPr>
            <a:r>
              <a:rPr sz="1150" b="0">
                <a:solidFill>
                  <a:srgbClr val="FFFFFF"/>
                </a:solidFill>
              </a:rPr>
              <a:t>• OpenRouter API (LLM AI)</a:t>
            </a:r>
          </a:p>
          <a:p>
            <a:pPr algn="l">
              <a:spcBef>
                <a:spcPts val="400"/>
              </a:spcBef>
            </a:pPr>
            <a:r>
              <a:rPr sz="1150" b="0">
                <a:solidFill>
                  <a:srgbClr val="FFFFFF"/>
                </a:solidFill>
              </a:rPr>
              <a:t>• Multiple free LLM fallbacks</a:t>
            </a:r>
          </a:p>
          <a:p>
            <a:pPr algn="l">
              <a:spcBef>
                <a:spcPts val="400"/>
              </a:spcBef>
            </a:pPr>
            <a:r>
              <a:rPr sz="1150" b="0">
                <a:solidFill>
                  <a:srgbClr val="FFFFFF"/>
                </a:solidFill>
              </a:rPr>
              <a:t>• REST API (JSON)</a:t>
            </a:r>
          </a:p>
          <a:p>
            <a:pPr algn="l">
              <a:spcBef>
                <a:spcPts val="400"/>
              </a:spcBef>
            </a:pPr>
            <a:r>
              <a:rPr sz="1150" b="0">
                <a:solidFill>
                  <a:srgbClr val="FFFFFF"/>
                </a:solidFill>
              </a:rPr>
              <a:t>• Jest + Supertest (testing)</a:t>
            </a:r>
          </a:p>
        </p:txBody>
      </p:sp>
      <p:pic>
        <p:nvPicPr>
          <p:cNvPr id="20" name="Picture 19" descr="logo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91440"/>
            <a:ext cx="640080" cy="327894"/>
          </a:xfrm>
          <a:prstGeom prst="rect">
            <a:avLst/>
          </a:prstGeom>
        </p:spPr>
      </p:pic>
      <p:pic>
        <p:nvPicPr>
          <p:cNvPr id="21" name="Picture 2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7432" y="9144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Database Design &amp;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00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5A623"/>
                </a:solidFill>
              </a:rPr>
              <a:t>MongoDB with Mongoose ODM – 10 Collections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464808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DC3C7"/>
                </a:solidFill>
              </a:rPr>
              <a:t>Skilled Labor App  |  Final Year Project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371600"/>
            <a:ext cx="566928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371600"/>
            <a:ext cx="1371600" cy="9601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1627632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User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463040"/>
            <a:ext cx="4114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C3E50"/>
                </a:solidFill>
              </a:rPr>
              <a:t>name, email, phone, password  ·  role: customer|laborer|admin  ·  status: unverified|pending|approved|rejected|blocked  ...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423160"/>
            <a:ext cx="566928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423160"/>
            <a:ext cx="1371600" cy="9601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2679191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Customer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514600"/>
            <a:ext cx="4114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C3E50"/>
                </a:solidFill>
              </a:rPr>
              <a:t>firstName, lastName, email, phone  ·  password (bcrypt hashed)  ·  profileImage, currentLocation  ...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474720"/>
            <a:ext cx="566928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3474720"/>
            <a:ext cx="1371600" cy="9601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" y="3730752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Booking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566160"/>
            <a:ext cx="4114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C3E50"/>
                </a:solidFill>
              </a:rPr>
              <a:t>customer (ref: Customer)  ·  laborer (ref: User)  ·  service, serviceDescription  ...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4526279"/>
            <a:ext cx="566928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320" y="4526279"/>
            <a:ext cx="1371600" cy="9601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20" y="4782312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Chat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617719"/>
            <a:ext cx="4114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C3E50"/>
                </a:solidFill>
              </a:rPr>
              <a:t>booking (ref: Booking, unique)  ·  customer, laborer references  ·  lastMessage snapshot  ...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5577840"/>
            <a:ext cx="566928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4320" y="5577840"/>
            <a:ext cx="1371600" cy="9601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" y="5833872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Message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37360" y="5669279"/>
            <a:ext cx="4114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C3E50"/>
                </a:solidFill>
              </a:rPr>
              <a:t>chat reference  ·  senderId, senderRole  ·  text content, read status  ...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1371600"/>
            <a:ext cx="566928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09360" y="1371600"/>
            <a:ext cx="1371600" cy="960120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0" y="1627632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ServiceOffering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1463040"/>
            <a:ext cx="4114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C3E50"/>
                </a:solidFill>
              </a:rPr>
              <a:t>laborer (ref: User)  ·  category, subcategory refs  ·  price (min 0)  ...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2423160"/>
            <a:ext cx="566928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09360" y="2423160"/>
            <a:ext cx="1371600" cy="960120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0" y="2679191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JobRating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2514600"/>
            <a:ext cx="4114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C3E50"/>
                </a:solidFill>
              </a:rPr>
              <a:t>booking, laborer, customer refs  ·  rating (0.5–5 stars)  ·  comment (max 500 chars)  ...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09360" y="3474720"/>
            <a:ext cx="566928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309360" y="3474720"/>
            <a:ext cx="1371600" cy="960120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0" y="3730752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Notification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0" y="3566160"/>
            <a:ext cx="4114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C3E50"/>
                </a:solidFill>
              </a:rPr>
              <a:t>recipient (ref: User)  ·  type (12 types)  ·  title, message, data  ...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09360" y="4526279"/>
            <a:ext cx="566928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309360" y="4526279"/>
            <a:ext cx="1371600" cy="960120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09360" y="4782312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Category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0" y="4617719"/>
            <a:ext cx="4114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C3E50"/>
                </a:solidFill>
              </a:rPr>
              <a:t>name (unique)  ·  icon (image path)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09360" y="5577840"/>
            <a:ext cx="566928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309360" y="5577840"/>
            <a:ext cx="1371600" cy="960120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09360" y="5833872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AuditLog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72400" y="5669279"/>
            <a:ext cx="4114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C3E50"/>
                </a:solidFill>
              </a:rPr>
              <a:t>Admin action tracking  ·  Who did what and when</a:t>
            </a:r>
          </a:p>
        </p:txBody>
      </p:sp>
      <p:pic>
        <p:nvPicPr>
          <p:cNvPr id="48" name="Picture 47" descr="logo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91440"/>
            <a:ext cx="640080" cy="327894"/>
          </a:xfrm>
          <a:prstGeom prst="rect">
            <a:avLst/>
          </a:prstGeom>
        </p:spPr>
      </p:pic>
      <p:pic>
        <p:nvPicPr>
          <p:cNvPr id="49" name="Picture 48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7432" y="9144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User Roles &amp; Authentication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00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5A623"/>
                </a:solidFill>
              </a:rPr>
              <a:t>JWT-Based Role Access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464808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DC3C7"/>
                </a:solidFill>
              </a:rPr>
              <a:t>Skilled Labor App  |  Final Year Project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280160"/>
            <a:ext cx="3749039" cy="4892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371600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👤 CUSTOMER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79" y="1874519"/>
            <a:ext cx="3474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150" b="0">
                <a:solidFill>
                  <a:srgbClr val="FFFFFF"/>
                </a:solidFill>
              </a:rPr>
              <a:t>✓  Register via email or phone</a:t>
            </a:r>
          </a:p>
          <a:p>
            <a:pPr algn="l">
              <a:spcBef>
                <a:spcPts val="800"/>
              </a:spcBef>
            </a:pPr>
            <a:r>
              <a:rPr sz="1150" b="0">
                <a:solidFill>
                  <a:srgbClr val="FFFFFF"/>
                </a:solidFill>
              </a:rPr>
              <a:t>✓  Browse &amp; search laborers by category</a:t>
            </a:r>
          </a:p>
          <a:p>
            <a:pPr algn="l">
              <a:spcBef>
                <a:spcPts val="800"/>
              </a:spcBef>
            </a:pPr>
            <a:r>
              <a:rPr sz="1150" b="0">
                <a:solidFill>
                  <a:srgbClr val="FFFFFF"/>
                </a:solidFill>
              </a:rPr>
              <a:t>✓  Book services with date/time/location</a:t>
            </a:r>
          </a:p>
          <a:p>
            <a:pPr algn="l">
              <a:spcBef>
                <a:spcPts val="800"/>
              </a:spcBef>
            </a:pPr>
            <a:r>
              <a:rPr sz="1150" b="0">
                <a:solidFill>
                  <a:srgbClr val="FFFFFF"/>
                </a:solidFill>
              </a:rPr>
              <a:t>✓  Real-time chat with laborer</a:t>
            </a:r>
          </a:p>
          <a:p>
            <a:pPr algn="l">
              <a:spcBef>
                <a:spcPts val="800"/>
              </a:spcBef>
            </a:pPr>
            <a:r>
              <a:rPr sz="1150" b="0">
                <a:solidFill>
                  <a:srgbClr val="FFFFFF"/>
                </a:solidFill>
              </a:rPr>
              <a:t>✓  Track booking status</a:t>
            </a:r>
          </a:p>
          <a:p>
            <a:pPr algn="l">
              <a:spcBef>
                <a:spcPts val="800"/>
              </a:spcBef>
            </a:pPr>
            <a:r>
              <a:rPr sz="1150" b="0">
                <a:solidFill>
                  <a:srgbClr val="FFFFFF"/>
                </a:solidFill>
              </a:rPr>
              <a:t>✓  Rate &amp; review completed jobs</a:t>
            </a:r>
          </a:p>
          <a:p>
            <a:pPr algn="l">
              <a:spcBef>
                <a:spcPts val="800"/>
              </a:spcBef>
            </a:pPr>
            <a:r>
              <a:rPr sz="1150" b="0">
                <a:solidFill>
                  <a:srgbClr val="FFFFFF"/>
                </a:solidFill>
              </a:rPr>
              <a:t>✓  Manage profile &amp; settings</a:t>
            </a:r>
          </a:p>
          <a:p>
            <a:pPr algn="l">
              <a:spcBef>
                <a:spcPts val="800"/>
              </a:spcBef>
            </a:pPr>
            <a:r>
              <a:rPr sz="1150" b="0">
                <a:solidFill>
                  <a:srgbClr val="FFFFFF"/>
                </a:solidFill>
              </a:rPr>
              <a:t>✓  AI chatbot assistance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1280160"/>
            <a:ext cx="3749039" cy="4892040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43399" y="1371600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🔧 LABORER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1874519"/>
            <a:ext cx="3474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150" b="0">
                <a:solidFill>
                  <a:srgbClr val="FFFFFF"/>
                </a:solidFill>
              </a:rPr>
              <a:t>✓  Register with phone number</a:t>
            </a:r>
          </a:p>
          <a:p>
            <a:pPr algn="l">
              <a:spcBef>
                <a:spcPts val="800"/>
              </a:spcBef>
            </a:pPr>
            <a:r>
              <a:rPr sz="1150" b="0">
                <a:solidFill>
                  <a:srgbClr val="FFFFFF"/>
                </a:solidFill>
              </a:rPr>
              <a:t>✓  Submit ID verification documents</a:t>
            </a:r>
          </a:p>
          <a:p>
            <a:pPr algn="l">
              <a:spcBef>
                <a:spcPts val="800"/>
              </a:spcBef>
            </a:pPr>
            <a:r>
              <a:rPr sz="1150" b="0">
                <a:solidFill>
                  <a:srgbClr val="FFFFFF"/>
                </a:solidFill>
              </a:rPr>
              <a:t>✓  Get approved by admin</a:t>
            </a:r>
          </a:p>
          <a:p>
            <a:pPr algn="l">
              <a:spcBef>
                <a:spcPts val="800"/>
              </a:spcBef>
            </a:pPr>
            <a:r>
              <a:rPr sz="1150" b="0">
                <a:solidFill>
                  <a:srgbClr val="FFFFFF"/>
                </a:solidFill>
              </a:rPr>
              <a:t>✓  Set availability on/off</a:t>
            </a:r>
          </a:p>
          <a:p>
            <a:pPr algn="l">
              <a:spcBef>
                <a:spcPts val="800"/>
              </a:spcBef>
            </a:pPr>
            <a:r>
              <a:rPr sz="1150" b="0">
                <a:solidFill>
                  <a:srgbClr val="FFFFFF"/>
                </a:solidFill>
              </a:rPr>
              <a:t>✓  Accept/decline job requests</a:t>
            </a:r>
          </a:p>
          <a:p>
            <a:pPr algn="l">
              <a:spcBef>
                <a:spcPts val="800"/>
              </a:spcBef>
            </a:pPr>
            <a:r>
              <a:rPr sz="1150" b="0">
                <a:solidFill>
                  <a:srgbClr val="FFFFFF"/>
                </a:solidFill>
              </a:rPr>
              <a:t>✓  Manage service offerings &amp; prices</a:t>
            </a:r>
          </a:p>
          <a:p>
            <a:pPr algn="l">
              <a:spcBef>
                <a:spcPts val="800"/>
              </a:spcBef>
            </a:pPr>
            <a:r>
              <a:rPr sz="1150" b="0">
                <a:solidFill>
                  <a:srgbClr val="FFFFFF"/>
                </a:solidFill>
              </a:rPr>
              <a:t>✓  Chat with customers</a:t>
            </a:r>
          </a:p>
          <a:p>
            <a:pPr algn="l">
              <a:spcBef>
                <a:spcPts val="800"/>
              </a:spcBef>
            </a:pPr>
            <a:r>
              <a:rPr sz="1150" b="0">
                <a:solidFill>
                  <a:srgbClr val="FFFFFF"/>
                </a:solidFill>
              </a:rPr>
              <a:t>✓  View earnings &amp; job history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1280160"/>
            <a:ext cx="3749039" cy="48920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1371600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🛡️ ADMIN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1874519"/>
            <a:ext cx="3474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150" b="0">
                <a:solidFill>
                  <a:srgbClr val="FFFFFF"/>
                </a:solidFill>
              </a:rPr>
              <a:t>✓  Full platform oversight</a:t>
            </a:r>
          </a:p>
          <a:p>
            <a:pPr algn="l">
              <a:spcBef>
                <a:spcPts val="800"/>
              </a:spcBef>
            </a:pPr>
            <a:r>
              <a:rPr sz="1150" b="0">
                <a:solidFill>
                  <a:srgbClr val="FFFFFF"/>
                </a:solidFill>
              </a:rPr>
              <a:t>✓  Approve/reject laborer verification</a:t>
            </a:r>
          </a:p>
          <a:p>
            <a:pPr algn="l">
              <a:spcBef>
                <a:spcPts val="800"/>
              </a:spcBef>
            </a:pPr>
            <a:r>
              <a:rPr sz="1150" b="0">
                <a:solidFill>
                  <a:srgbClr val="FFFFFF"/>
                </a:solidFill>
              </a:rPr>
              <a:t>✓  Manage users (block/unblock/warn)</a:t>
            </a:r>
          </a:p>
          <a:p>
            <a:pPr algn="l">
              <a:spcBef>
                <a:spcPts val="800"/>
              </a:spcBef>
            </a:pPr>
            <a:r>
              <a:rPr sz="1150" b="0">
                <a:solidFill>
                  <a:srgbClr val="FFFFFF"/>
                </a:solidFill>
              </a:rPr>
              <a:t>✓  View all bookings &amp; analytics</a:t>
            </a:r>
          </a:p>
          <a:p>
            <a:pPr algn="l">
              <a:spcBef>
                <a:spcPts val="800"/>
              </a:spcBef>
            </a:pPr>
            <a:r>
              <a:rPr sz="1150" b="0">
                <a:solidFill>
                  <a:srgbClr val="FFFFFF"/>
                </a:solidFill>
              </a:rPr>
              <a:t>✓  Manage service categories</a:t>
            </a:r>
          </a:p>
          <a:p>
            <a:pPr algn="l">
              <a:spcBef>
                <a:spcPts val="800"/>
              </a:spcBef>
            </a:pPr>
            <a:r>
              <a:rPr sz="1150" b="0">
                <a:solidFill>
                  <a:srgbClr val="FFFFFF"/>
                </a:solidFill>
              </a:rPr>
              <a:t>✓  Dashboard statistics</a:t>
            </a:r>
          </a:p>
          <a:p>
            <a:pPr algn="l">
              <a:spcBef>
                <a:spcPts val="800"/>
              </a:spcBef>
            </a:pPr>
            <a:r>
              <a:rPr sz="1150" b="0">
                <a:solidFill>
                  <a:srgbClr val="FFFFFF"/>
                </a:solidFill>
              </a:rPr>
              <a:t>✓  Issue warnings &amp; take account actions</a:t>
            </a:r>
          </a:p>
          <a:p>
            <a:pPr algn="l">
              <a:spcBef>
                <a:spcPts val="800"/>
              </a:spcBef>
            </a:pPr>
            <a:r>
              <a:rPr sz="1150" b="0">
                <a:solidFill>
                  <a:srgbClr val="FFFFFF"/>
                </a:solidFill>
              </a:rPr>
              <a:t>✓  Admin web dashboard access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6172200"/>
            <a:ext cx="11612880" cy="36576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19963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E3A5F"/>
                </a:solidFill>
              </a:rPr>
              <a:t>Auth Flow:  POST /api/users/login  →  JWT Token (role embedded)  →  Bearer Token in headers  →  protect middleware validates  →  role-specific access</a:t>
            </a:r>
          </a:p>
        </p:txBody>
      </p:sp>
      <p:pic>
        <p:nvPicPr>
          <p:cNvPr id="19" name="Picture 18" descr="logo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91440"/>
            <a:ext cx="640080" cy="327894"/>
          </a:xfrm>
          <a:prstGeom prst="rect">
            <a:avLst/>
          </a:prstGeom>
        </p:spPr>
      </p:pic>
      <p:pic>
        <p:nvPicPr>
          <p:cNvPr id="20" name="Picture 19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7432" y="9144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Mobile App – Customer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00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5A623"/>
                </a:solidFill>
              </a:rPr>
              <a:t>React Native / Expo Router – Tab-Based Navigation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464808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DC3C7"/>
                </a:solidFill>
              </a:rPr>
              <a:t>Skilled Labor App  |  Final Year Project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325880"/>
            <a:ext cx="3749039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399032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E86C1"/>
                </a:solidFill>
              </a:rPr>
              <a:t>🏠 Home Screen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764792"/>
            <a:ext cx="3566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050" b="0">
                <a:solidFill>
                  <a:srgbClr val="2C3E50"/>
                </a:solidFill>
              </a:rPr>
              <a:t>• Service category grid (12 categories)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2C3E50"/>
                </a:solidFill>
              </a:rPr>
              <a:t>• Advertisement banner (auto-scroll)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2C3E50"/>
                </a:solidFill>
              </a:rPr>
              <a:t>• Search laborers by name/skill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2C3E50"/>
                </a:solidFill>
              </a:rPr>
              <a:t>• Location picker (GPS + Map)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2C3E50"/>
                </a:solidFill>
              </a:rPr>
              <a:t>• AI ChatBot floating button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2C3E50"/>
                </a:solidFill>
              </a:rPr>
              <a:t>• Future services preview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1325880"/>
            <a:ext cx="3749039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43399" y="1399032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E86C1"/>
                </a:solidFill>
              </a:rPr>
              <a:t>📋 Bookings Tab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399" y="1764792"/>
            <a:ext cx="3566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050" b="0">
                <a:solidFill>
                  <a:srgbClr val="2C3E50"/>
                </a:solidFill>
              </a:rPr>
              <a:t>• View all past &amp; current bookings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2C3E50"/>
                </a:solidFill>
              </a:rPr>
              <a:t>• Filter by status (Pending, Active, etc)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2C3E50"/>
                </a:solidFill>
              </a:rPr>
              <a:t>• Booking details with laborer info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2C3E50"/>
                </a:solidFill>
              </a:rPr>
              <a:t>• Cancel or reschedule bookings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2C3E50"/>
                </a:solidFill>
              </a:rPr>
              <a:t>• Payment status tracking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2C3E50"/>
                </a:solidFill>
              </a:rPr>
              <a:t>• Rate completed jobs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1325880"/>
            <a:ext cx="3749039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1399032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E86C1"/>
                </a:solidFill>
              </a:rPr>
              <a:t>💬 Chat Tab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1764792"/>
            <a:ext cx="3566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050" b="0">
                <a:solidFill>
                  <a:srgbClr val="2C3E50"/>
                </a:solidFill>
              </a:rPr>
              <a:t>• List of all active conversations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2C3E50"/>
                </a:solidFill>
              </a:rPr>
              <a:t>• Real-time messaging (Socket.IO)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2C3E50"/>
                </a:solidFill>
              </a:rPr>
              <a:t>• Unread message badges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2C3E50"/>
                </a:solidFill>
              </a:rPr>
              <a:t>• Message read receipts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2C3E50"/>
                </a:solidFill>
              </a:rPr>
              <a:t>• Chat history per booking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840480"/>
            <a:ext cx="3749039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3913632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E86C1"/>
                </a:solidFill>
              </a:rPr>
              <a:t>👤 Account Tab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279392"/>
            <a:ext cx="3566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050" b="0">
                <a:solidFill>
                  <a:srgbClr val="2C3E50"/>
                </a:solidFill>
              </a:rPr>
              <a:t>• Profile photo &amp; personal info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2C3E50"/>
                </a:solidFill>
              </a:rPr>
              <a:t>• Edit profile details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2C3E50"/>
                </a:solidFill>
              </a:rPr>
              <a:t>• Change password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2C3E50"/>
                </a:solidFill>
              </a:rPr>
              <a:t>• Dark/Light theme toggle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2C3E50"/>
                </a:solidFill>
              </a:rPr>
              <a:t>• Location settings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2C3E50"/>
                </a:solidFill>
              </a:rPr>
              <a:t>• Notification preferences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2C3E50"/>
                </a:solidFill>
              </a:rPr>
              <a:t>• Logout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51959" y="3840480"/>
            <a:ext cx="3749039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43399" y="3913632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E86C1"/>
                </a:solidFill>
              </a:rPr>
              <a:t>🔍 Discovery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43399" y="4279392"/>
            <a:ext cx="3566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050" b="0">
                <a:solidFill>
                  <a:srgbClr val="2C3E50"/>
                </a:solidFill>
              </a:rPr>
              <a:t>• Browse all categories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2C3E50"/>
                </a:solidFill>
              </a:rPr>
              <a:t>• Subcategory drill-down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2C3E50"/>
                </a:solidFill>
              </a:rPr>
              <a:t>• Laborer profile view (rating, reviews)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2C3E50"/>
                </a:solidFill>
              </a:rPr>
              <a:t>• Service offerings with prices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2C3E50"/>
                </a:solidFill>
              </a:rPr>
              <a:t>• Book directly from profile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0" y="3840480"/>
            <a:ext cx="3749039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21040" y="3913632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E86C1"/>
                </a:solidFill>
              </a:rPr>
              <a:t>📍 Location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4279392"/>
            <a:ext cx="3566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050" b="0">
                <a:solidFill>
                  <a:srgbClr val="2C3E50"/>
                </a:solidFill>
              </a:rPr>
              <a:t>• GPS auto-detect current location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2C3E50"/>
                </a:solidFill>
              </a:rPr>
              <a:t>• Interactive Google Maps picker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2C3E50"/>
                </a:solidFill>
              </a:rPr>
              <a:t>• Manual address input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2C3E50"/>
                </a:solidFill>
              </a:rPr>
              <a:t>• Location saved to profile</a:t>
            </a:r>
          </a:p>
        </p:txBody>
      </p:sp>
      <p:pic>
        <p:nvPicPr>
          <p:cNvPr id="26" name="Picture 25" descr="logo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91440"/>
            <a:ext cx="640080" cy="327894"/>
          </a:xfrm>
          <a:prstGeom prst="rect">
            <a:avLst/>
          </a:prstGeom>
        </p:spPr>
      </p:pic>
      <p:pic>
        <p:nvPicPr>
          <p:cNvPr id="27" name="Picture 26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7432" y="9144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Mobile App – Laborer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00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5A623"/>
                </a:solidFill>
              </a:rPr>
              <a:t>Expo Router – Multi-Tab Laborer Interface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464808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DC3C7"/>
                </a:solidFill>
              </a:rPr>
              <a:t>Skilled Labor App  |  Final Year Project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325880"/>
            <a:ext cx="3749039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399032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6A085"/>
                </a:solidFill>
              </a:rPr>
              <a:t>🏠 Home Screen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764792"/>
            <a:ext cx="3566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050" b="0">
                <a:solidFill>
                  <a:srgbClr val="2C3E50"/>
                </a:solidFill>
              </a:rPr>
              <a:t>• Welcome with name &amp; status badge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2C3E50"/>
                </a:solidFill>
              </a:rPr>
              <a:t>• Today's job summary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2C3E50"/>
                </a:solidFill>
              </a:rPr>
              <a:t>• Availability toggle (on/off switch)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2C3E50"/>
                </a:solidFill>
              </a:rPr>
              <a:t>• Quick stats (rating, completed jobs)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2C3E50"/>
                </a:solidFill>
              </a:rPr>
              <a:t>• Pending job requests list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1325880"/>
            <a:ext cx="3749039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43399" y="1399032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6A085"/>
                </a:solidFill>
              </a:rPr>
              <a:t>💼 Jobs Tab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399" y="1764792"/>
            <a:ext cx="3566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050" b="0">
                <a:solidFill>
                  <a:srgbClr val="2C3E50"/>
                </a:solidFill>
              </a:rPr>
              <a:t>• All incoming job requests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2C3E50"/>
                </a:solidFill>
              </a:rPr>
              <a:t>• Accept or Decline each job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2C3E50"/>
                </a:solidFill>
              </a:rPr>
              <a:t>• Job status tracking (Pending→Completed)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2C3E50"/>
                </a:solidFill>
              </a:rPr>
              <a:t>• Job details: service, location, time, pay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2C3E50"/>
                </a:solidFill>
              </a:rPr>
              <a:t>• Mark job as In Progress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1325880"/>
            <a:ext cx="3749039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1399032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6A085"/>
                </a:solidFill>
              </a:rPr>
              <a:t>📊 Dashboard Tab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1764792"/>
            <a:ext cx="3566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050" b="0">
                <a:solidFill>
                  <a:srgbClr val="2C3E50"/>
                </a:solidFill>
              </a:rPr>
              <a:t>• Total earnings summary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2C3E50"/>
                </a:solidFill>
              </a:rPr>
              <a:t>• Jobs accepted/declined/completed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2C3E50"/>
                </a:solidFill>
              </a:rPr>
              <a:t>• Average rating display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2C3E50"/>
                </a:solidFill>
              </a:rPr>
              <a:t>• Job completion percentage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2C3E50"/>
                </a:solidFill>
              </a:rPr>
              <a:t>• Recent activity feed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840480"/>
            <a:ext cx="3749039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3913632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6A085"/>
                </a:solidFill>
              </a:rPr>
              <a:t>⚙️ Services Tab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279392"/>
            <a:ext cx="3566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050" b="0">
                <a:solidFill>
                  <a:srgbClr val="2C3E50"/>
                </a:solidFill>
              </a:rPr>
              <a:t>• Add/edit service offerings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2C3E50"/>
                </a:solidFill>
              </a:rPr>
              <a:t>• Set price per subcategory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2C3E50"/>
                </a:solidFill>
              </a:rPr>
              <a:t>• Toggle service active/inactive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2C3E50"/>
                </a:solidFill>
              </a:rPr>
              <a:t>• Manage multiple categories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2C3E50"/>
                </a:solidFill>
              </a:rPr>
              <a:t>• Description for each service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51959" y="3840480"/>
            <a:ext cx="3749039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43399" y="3913632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6A085"/>
                </a:solidFill>
              </a:rPr>
              <a:t>💬 Chat Tab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43399" y="4279392"/>
            <a:ext cx="3566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050" b="0">
                <a:solidFill>
                  <a:srgbClr val="2C3E50"/>
                </a:solidFill>
              </a:rPr>
              <a:t>• Conversations with customers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2C3E50"/>
                </a:solidFill>
              </a:rPr>
              <a:t>• Real-time Socket.IO messaging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2C3E50"/>
                </a:solidFill>
              </a:rPr>
              <a:t>• Booking-linked chat threads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2C3E50"/>
                </a:solidFill>
              </a:rPr>
              <a:t>• Unread count badges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0" y="3840480"/>
            <a:ext cx="3749039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21040" y="3913632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6A085"/>
                </a:solidFill>
              </a:rPr>
              <a:t>👤 Profile &amp; Account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4279392"/>
            <a:ext cx="3566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050" b="0">
                <a:solidFill>
                  <a:srgbClr val="2C3E50"/>
                </a:solidFill>
              </a:rPr>
              <a:t>• Upload profile &amp; ID card photos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2C3E50"/>
                </a:solidFill>
              </a:rPr>
              <a:t>• Set current location on map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2C3E50"/>
                </a:solidFill>
              </a:rPr>
              <a:t>• Edit personal info &amp; experience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2C3E50"/>
                </a:solidFill>
              </a:rPr>
              <a:t>• Notification settings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2C3E50"/>
                </a:solidFill>
              </a:rPr>
              <a:t>• Change password, Logout</a:t>
            </a:r>
          </a:p>
        </p:txBody>
      </p:sp>
      <p:pic>
        <p:nvPicPr>
          <p:cNvPr id="26" name="Picture 25" descr="logo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91440"/>
            <a:ext cx="640080" cy="327894"/>
          </a:xfrm>
          <a:prstGeom prst="rect">
            <a:avLst/>
          </a:prstGeom>
        </p:spPr>
      </p:pic>
      <p:pic>
        <p:nvPicPr>
          <p:cNvPr id="27" name="Picture 26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7432" y="9144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Admin Dashboard (Web)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00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5A623"/>
                </a:solidFill>
              </a:rPr>
              <a:t>React + Vite + TypeScript + Tailwind CSS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464808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DC3C7"/>
                </a:solidFill>
              </a:rPr>
              <a:t>Skilled Labor App  |  Final Year Project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280160"/>
            <a:ext cx="7772400" cy="4983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74980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E3A5F"/>
                </a:solidFill>
              </a:rPr>
              <a:t>Web-Based Admin Control Center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828800"/>
            <a:ext cx="2011680" cy="457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1883664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Login Page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1901952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Secure admin authentication with JWT token storage in browser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432304"/>
            <a:ext cx="2011680" cy="457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248716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Dashboard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4600" y="2505456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Stats: total users, bookings, revenue, pending verifications, active users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3035808"/>
            <a:ext cx="2011680" cy="457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09067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Users Page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14600" y="310896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List all laborers: view profile, verification status, block/warn/unblock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639312"/>
            <a:ext cx="2011680" cy="457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3694176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Verifications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14600" y="3712463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Review submitted ID docs (profile photo + ID card), approve or reject with reason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4242816"/>
            <a:ext cx="2011680" cy="457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429768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Bookings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14600" y="4315968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Full booking list with filters, status management, customer &amp; laborer details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4846320"/>
            <a:ext cx="2011680" cy="457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4901184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Services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14600" y="4919472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Manage service categories, add/edit/delete categories with icons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5449824"/>
            <a:ext cx="2011680" cy="457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0" y="550468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Notifications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14600" y="5522976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System-wide notification history and management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321040" y="1280160"/>
            <a:ext cx="3657600" cy="49834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58200" y="137160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A623"/>
                </a:solidFill>
              </a:rPr>
              <a:t>⚙️  Technical Details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58200" y="1874519"/>
            <a:ext cx="33832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00"/>
              </a:spcBef>
            </a:pPr>
            <a:r>
              <a:rPr sz="1100" b="0">
                <a:solidFill>
                  <a:srgbClr val="FFFFFF"/>
                </a:solidFill>
              </a:rPr>
              <a:t>• Framework: React 18 + TypeScript</a:t>
            </a:r>
          </a:p>
          <a:p>
            <a:pPr algn="l">
              <a:spcBef>
                <a:spcPts val="700"/>
              </a:spcBef>
            </a:pPr>
            <a:r>
              <a:rPr sz="1100" b="0">
                <a:solidFill>
                  <a:srgbClr val="FFFFFF"/>
                </a:solidFill>
              </a:rPr>
              <a:t>• Build Tool: Vite</a:t>
            </a:r>
          </a:p>
          <a:p>
            <a:pPr algn="l">
              <a:spcBef>
                <a:spcPts val="700"/>
              </a:spcBef>
            </a:pPr>
            <a:r>
              <a:rPr sz="1100" b="0">
                <a:solidFill>
                  <a:srgbClr val="FFFFFF"/>
                </a:solidFill>
              </a:rPr>
              <a:t>• Styling: Tailwind CSS</a:t>
            </a:r>
          </a:p>
          <a:p>
            <a:pPr algn="l">
              <a:spcBef>
                <a:spcPts val="700"/>
              </a:spcBef>
            </a:pPr>
            <a:r>
              <a:rPr sz="1100" b="0">
                <a:solidFill>
                  <a:srgbClr val="FFFFFF"/>
                </a:solidFill>
              </a:rPr>
              <a:t>• Routing: React Router DOM</a:t>
            </a:r>
          </a:p>
          <a:p>
            <a:pPr algn="l">
              <a:spcBef>
                <a:spcPts val="700"/>
              </a:spcBef>
            </a:pPr>
            <a:r>
              <a:rPr sz="1100" b="0">
                <a:solidFill>
                  <a:srgbClr val="FFFFFF"/>
                </a:solidFill>
              </a:rPr>
              <a:t>• HTTP: Axios to backend API</a:t>
            </a:r>
          </a:p>
          <a:p>
            <a:pPr algn="l">
              <a:spcBef>
                <a:spcPts val="700"/>
              </a:spcBef>
            </a:pPr>
            <a:r>
              <a:rPr sz="1100" b="0">
                <a:solidFill>
                  <a:srgbClr val="FFFFFF"/>
                </a:solidFill>
              </a:rPr>
              <a:t>• Auth: JWT token (localStorage)</a:t>
            </a:r>
          </a:p>
          <a:p>
            <a:pPr algn="l">
              <a:spcBef>
                <a:spcPts val="700"/>
              </a:spcBef>
            </a:pPr>
            <a:r>
              <a:rPr sz="1100" b="0">
                <a:solidFill>
                  <a:srgbClr val="FFFFFF"/>
                </a:solidFill>
              </a:rPr>
              <a:t>• Served separately from mobile app</a:t>
            </a:r>
          </a:p>
          <a:p>
            <a:pPr algn="l">
              <a:spcBef>
                <a:spcPts val="700"/>
              </a:spcBef>
            </a:pPr>
            <a:r>
              <a:rPr sz="1100" b="0">
                <a:solidFill>
                  <a:srgbClr val="FFFFFF"/>
                </a:solidFill>
              </a:rPr>
              <a:t>• Responsive layout with sidebar</a:t>
            </a:r>
          </a:p>
          <a:p>
            <a:pPr algn="l">
              <a:spcBef>
                <a:spcPts val="700"/>
              </a:spcBef>
            </a:pPr>
            <a:r>
              <a:rPr sz="1100" b="0">
                <a:solidFill>
                  <a:srgbClr val="FFFFFF"/>
                </a:solidFill>
              </a:rPr>
              <a:t>• Modal dialogs for detail views</a:t>
            </a:r>
          </a:p>
          <a:p>
            <a:pPr algn="l">
              <a:spcBef>
                <a:spcPts val="700"/>
              </a:spcBef>
            </a:pPr>
            <a:r>
              <a:rPr sz="1100" b="0">
                <a:solidFill>
                  <a:srgbClr val="FFFFFF"/>
                </a:solidFill>
              </a:rPr>
              <a:t>• User Details Modal with full info</a:t>
            </a:r>
          </a:p>
        </p:txBody>
      </p:sp>
      <p:pic>
        <p:nvPicPr>
          <p:cNvPr id="34" name="Picture 33" descr="logo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91440"/>
            <a:ext cx="640080" cy="327894"/>
          </a:xfrm>
          <a:prstGeom prst="rect">
            <a:avLst/>
          </a:prstGeom>
        </p:spPr>
      </p:pic>
      <p:pic>
        <p:nvPicPr>
          <p:cNvPr id="35" name="Picture 34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7432" y="9144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Real-Time Chat &amp; Socket.IO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00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5A623"/>
                </a:solidFill>
              </a:rPr>
              <a:t>Bidirectional WebSocket Communication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464808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DC3C7"/>
                </a:solidFill>
              </a:rPr>
              <a:t>Skilled Labor App  |  Final Year Project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280160"/>
            <a:ext cx="11612880" cy="18288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53312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A623"/>
                </a:solidFill>
              </a:rPr>
              <a:t>Socket.IO Event Flow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737360"/>
            <a:ext cx="1417320" cy="2926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755648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E3A5F"/>
                </a:solidFill>
              </a:rPr>
              <a:t>connect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1773936"/>
            <a:ext cx="4343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Client authenticates with JWT token in handshake.auth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59" y="1737360"/>
            <a:ext cx="1417320" cy="2926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1755648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E3A5F"/>
                </a:solidFill>
              </a:rPr>
              <a:t>joinChat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19" y="1773936"/>
            <a:ext cx="4343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Client joins a specific chat room (chat_&lt;bookingId&gt;)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103120"/>
            <a:ext cx="1417320" cy="2926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2121408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E3A5F"/>
                </a:solidFill>
              </a:rPr>
              <a:t>sendMessage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2139696"/>
            <a:ext cx="4343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Client sends text → server saves Message → broadcasts newMessage to room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59" y="2103120"/>
            <a:ext cx="1417320" cy="2926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59" y="2121408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E3A5F"/>
                </a:solidFill>
              </a:rPr>
              <a:t>newMessage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19" y="2139696"/>
            <a:ext cx="4343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Emitted to all room members, updates UI in real-time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2468880"/>
            <a:ext cx="1417320" cy="2926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" y="2487168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E3A5F"/>
                </a:solidFill>
              </a:rPr>
              <a:t>markRead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2505456"/>
            <a:ext cx="4343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Mark all unread messages as read → update unread counters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59" y="2468880"/>
            <a:ext cx="1417320" cy="2926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59" y="2487168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E3A5F"/>
                </a:solidFill>
              </a:rPr>
              <a:t>messagesRead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18119" y="2505456"/>
            <a:ext cx="4343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Notify sender that their messages were read (read receipts)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2834640"/>
            <a:ext cx="1417320" cy="2926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" y="2852928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E3A5F"/>
                </a:solidFill>
              </a:rPr>
              <a:t>chatUpdate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2871216"/>
            <a:ext cx="4343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Notify recipient's personal room (user_&lt;id&gt;) for inbox badge update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59" y="2834640"/>
            <a:ext cx="1417320" cy="2926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59" y="2852928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E3A5F"/>
                </a:solidFill>
              </a:rPr>
              <a:t>disconnect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18119" y="2871216"/>
            <a:ext cx="4343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Clean up on client disconnect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3246120"/>
            <a:ext cx="566928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33375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3A5F"/>
                </a:solidFill>
              </a:rPr>
              <a:t>🔒  Security &amp; Architecture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3749039"/>
            <a:ext cx="5394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150" b="0">
                <a:solidFill>
                  <a:srgbClr val="2C3E50"/>
                </a:solidFill>
              </a:rPr>
              <a:t>• JWT token verification on every socket connection</a:t>
            </a:r>
          </a:p>
          <a:p>
            <a:pPr algn="l">
              <a:spcBef>
                <a:spcPts val="800"/>
              </a:spcBef>
            </a:pPr>
            <a:r>
              <a:rPr sz="1150" b="0">
                <a:solidFill>
                  <a:srgbClr val="2C3E50"/>
                </a:solidFill>
              </a:rPr>
              <a:t>• Users can only send messages in their own chats</a:t>
            </a:r>
          </a:p>
          <a:p>
            <a:pPr algn="l">
              <a:spcBef>
                <a:spcPts val="800"/>
              </a:spcBef>
            </a:pPr>
            <a:r>
              <a:rPr sz="1150" b="0">
                <a:solidFill>
                  <a:srgbClr val="2C3E50"/>
                </a:solidFill>
              </a:rPr>
              <a:t>• Server validates sender is chat participant (customer or laborer)</a:t>
            </a:r>
          </a:p>
          <a:p>
            <a:pPr algn="l">
              <a:spcBef>
                <a:spcPts val="800"/>
              </a:spcBef>
            </a:pPr>
            <a:r>
              <a:rPr sz="1150" b="0">
                <a:solidFill>
                  <a:srgbClr val="2C3E50"/>
                </a:solidFill>
              </a:rPr>
              <a:t>• Chat closes (isActive=false) after job completion</a:t>
            </a:r>
          </a:p>
          <a:p>
            <a:pPr algn="l">
              <a:spcBef>
                <a:spcPts val="800"/>
              </a:spcBef>
            </a:pPr>
            <a:r>
              <a:rPr sz="1150" b="0">
                <a:solidFill>
                  <a:srgbClr val="2C3E50"/>
                </a:solidFill>
              </a:rPr>
              <a:t>• Separate personal rooms (user_&lt;id&gt;) for inbox notifications</a:t>
            </a:r>
          </a:p>
          <a:p>
            <a:pPr algn="l">
              <a:spcBef>
                <a:spcPts val="800"/>
              </a:spcBef>
            </a:pPr>
            <a:r>
              <a:rPr sz="1150" b="0">
                <a:solidFill>
                  <a:srgbClr val="2C3E50"/>
                </a:solidFill>
              </a:rPr>
              <a:t>• Unread counters tracked per user role in Chat model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17920" y="3246120"/>
            <a:ext cx="566928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55080" y="33375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6A085"/>
                </a:solidFill>
              </a:rPr>
              <a:t>💾  Data Persistence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5080" y="3749039"/>
            <a:ext cx="5394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150" b="0">
                <a:solidFill>
                  <a:srgbClr val="2C3E50"/>
                </a:solidFill>
              </a:rPr>
              <a:t>• Every message saved to MongoDB (Message model)</a:t>
            </a:r>
          </a:p>
          <a:p>
            <a:pPr algn="l">
              <a:spcBef>
                <a:spcPts val="800"/>
              </a:spcBef>
            </a:pPr>
            <a:r>
              <a:rPr sz="1150" b="0">
                <a:solidFill>
                  <a:srgbClr val="2C3E50"/>
                </a:solidFill>
              </a:rPr>
              <a:t>• Chat model stores lastMessage snapshot for inbox preview</a:t>
            </a:r>
          </a:p>
          <a:p>
            <a:pPr algn="l">
              <a:spcBef>
                <a:spcPts val="800"/>
              </a:spcBef>
            </a:pPr>
            <a:r>
              <a:rPr sz="1150" b="0">
                <a:solidFill>
                  <a:srgbClr val="2C3E50"/>
                </a:solidFill>
              </a:rPr>
              <a:t>• unreadCustomer and unreadLaborer counters maintained</a:t>
            </a:r>
          </a:p>
          <a:p>
            <a:pPr algn="l">
              <a:spcBef>
                <a:spcPts val="800"/>
              </a:spcBef>
            </a:pPr>
            <a:r>
              <a:rPr sz="1150" b="0">
                <a:solidFill>
                  <a:srgbClr val="2C3E50"/>
                </a:solidFill>
              </a:rPr>
              <a:t>• Message read status persisted across sessions</a:t>
            </a:r>
          </a:p>
          <a:p>
            <a:pPr algn="l">
              <a:spcBef>
                <a:spcPts val="800"/>
              </a:spcBef>
            </a:pPr>
            <a:r>
              <a:rPr sz="1150" b="0">
                <a:solidFill>
                  <a:srgbClr val="2C3E50"/>
                </a:solidFill>
              </a:rPr>
              <a:t>• One chat per booking (unique index enforced)</a:t>
            </a:r>
          </a:p>
          <a:p>
            <a:pPr algn="l">
              <a:spcBef>
                <a:spcPts val="800"/>
              </a:spcBef>
            </a:pPr>
            <a:r>
              <a:rPr sz="1150" b="0">
                <a:solidFill>
                  <a:srgbClr val="2C3E50"/>
                </a:solidFill>
              </a:rPr>
              <a:t>• Chat history loadable at any time from API</a:t>
            </a:r>
          </a:p>
        </p:txBody>
      </p:sp>
      <p:pic>
        <p:nvPicPr>
          <p:cNvPr id="40" name="Picture 39" descr="logo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91440"/>
            <a:ext cx="640080" cy="327894"/>
          </a:xfrm>
          <a:prstGeom prst="rect">
            <a:avLst/>
          </a:prstGeom>
        </p:spPr>
      </p:pic>
      <p:pic>
        <p:nvPicPr>
          <p:cNvPr id="41" name="Picture 4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7432" y="9144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AI Chatbot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00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5A623"/>
                </a:solidFill>
              </a:rPr>
              <a:t>OpenRouter LLM – Multi-Model Fallback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464808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DC3C7"/>
                </a:solidFill>
              </a:rPr>
              <a:t>Skilled Labor App  |  Final Year Project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280160"/>
            <a:ext cx="5394960" cy="4983480"/>
          </a:xfrm>
          <a:prstGeom prst="rect">
            <a:avLst/>
          </a:prstGeom>
          <a:solidFill>
            <a:srgbClr val="FFFFFF"/>
          </a:solidFill>
          <a:ln w="1905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37160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3A5F"/>
                </a:solidFill>
              </a:rPr>
              <a:t>🤖  How the Chatbot Works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828800"/>
            <a:ext cx="51663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900"/>
              </a:spcBef>
            </a:pPr>
            <a:r>
              <a:rPr sz="1150" b="0">
                <a:solidFill>
                  <a:srgbClr val="2C3E50"/>
                </a:solidFill>
              </a:rPr>
              <a:t>• Customer clicks floating ChatBot button on Home Screen</a:t>
            </a:r>
          </a:p>
          <a:p>
            <a:pPr algn="l">
              <a:spcBef>
                <a:spcPts val="900"/>
              </a:spcBef>
            </a:pPr>
            <a:r>
              <a:rPr sz="1150" b="0">
                <a:solidFill>
                  <a:srgbClr val="2C3E50"/>
                </a:solidFill>
              </a:rPr>
              <a:t>• App calls POST /api/chatbot/message with conversation history</a:t>
            </a:r>
          </a:p>
          <a:p>
            <a:pPr algn="l">
              <a:spcBef>
                <a:spcPts val="900"/>
              </a:spcBef>
            </a:pPr>
            <a:r>
              <a:rPr sz="1150" b="0">
                <a:solidFill>
                  <a:srgbClr val="2C3E50"/>
                </a:solidFill>
              </a:rPr>
              <a:t>• Backend builds a system prompt with platform context</a:t>
            </a:r>
          </a:p>
          <a:p>
            <a:pPr algn="l">
              <a:spcBef>
                <a:spcPts val="900"/>
              </a:spcBef>
            </a:pPr>
            <a:r>
              <a:rPr sz="1150" b="0">
                <a:solidFill>
                  <a:srgbClr val="2C3E50"/>
                </a:solidFill>
              </a:rPr>
              <a:t>• System prompt informs bot about: available categories, services, booking flow, and the platform</a:t>
            </a:r>
          </a:p>
          <a:p>
            <a:pPr algn="l">
              <a:spcBef>
                <a:spcPts val="900"/>
              </a:spcBef>
            </a:pPr>
            <a:r>
              <a:rPr sz="1150" b="0">
                <a:solidFill>
                  <a:srgbClr val="2C3E50"/>
                </a:solidFill>
              </a:rPr>
              <a:t>• Conversation history sent to OpenRouter AI API</a:t>
            </a:r>
          </a:p>
          <a:p>
            <a:pPr algn="l">
              <a:spcBef>
                <a:spcPts val="900"/>
              </a:spcBef>
            </a:pPr>
            <a:r>
              <a:rPr sz="1150" b="0">
                <a:solidFill>
                  <a:srgbClr val="2C3E50"/>
                </a:solidFill>
              </a:rPr>
              <a:t>• AI responds with helpful guidance about services, pricing, and booking</a:t>
            </a:r>
          </a:p>
          <a:p>
            <a:pPr algn="l">
              <a:spcBef>
                <a:spcPts val="900"/>
              </a:spcBef>
            </a:pPr>
            <a:r>
              <a:rPr sz="1150" b="0">
                <a:solidFill>
                  <a:srgbClr val="2C3E50"/>
                </a:solidFill>
              </a:rPr>
              <a:t>• Conversation saved in ChatbotConversation MongoDB model</a:t>
            </a:r>
          </a:p>
          <a:p>
            <a:pPr algn="l">
              <a:spcBef>
                <a:spcPts val="900"/>
              </a:spcBef>
            </a:pPr>
            <a:r>
              <a:rPr sz="1150" b="0">
                <a:solidFill>
                  <a:srgbClr val="2C3E50"/>
                </a:solidFill>
              </a:rPr>
              <a:t>• Users can ask about service types, pricing estimates, and how to book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0" y="1280160"/>
            <a:ext cx="5943600" cy="23774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0760" y="1371600"/>
            <a:ext cx="5760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</a:rPr>
              <a:t>🔗  OpenRouter Model Fallback Chain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1828800"/>
            <a:ext cx="5715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</a:pPr>
            <a:r>
              <a:rPr sz="1100" b="0">
                <a:solidFill>
                  <a:srgbClr val="FFFFFF"/>
                </a:solidFill>
              </a:rPr>
              <a:t>• nvidia/nemotron-nano-9b-v2:free (primary)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FFFFFF"/>
                </a:solidFill>
              </a:rPr>
              <a:t>• stepfun/step-3.5-flash:free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FFFFFF"/>
                </a:solidFill>
              </a:rPr>
              <a:t>• liquid/lfm-2.5-1.2b:free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FFFFFF"/>
                </a:solidFill>
              </a:rPr>
              <a:t>• mistralai/mistral-small-3.1-24b:free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FFFFFF"/>
                </a:solidFill>
              </a:rPr>
              <a:t>• meta-llama/llama-3.2-3b:free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FFFFFF"/>
                </a:solidFill>
              </a:rPr>
              <a:t>• google/gemma-3-4b-it:free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FFFFFF"/>
                </a:solidFill>
              </a:rPr>
              <a:t>• →  Tries next model if rate-limited or error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3749039"/>
            <a:ext cx="5943600" cy="2514600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80760" y="3840480"/>
            <a:ext cx="5760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💡  Chatbot Capabilities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0760" y="4297680"/>
            <a:ext cx="571500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900"/>
              </a:spcBef>
            </a:pPr>
            <a:r>
              <a:rPr sz="1100" b="0">
                <a:solidFill>
                  <a:srgbClr val="FFFFFF"/>
                </a:solidFill>
              </a:rPr>
              <a:t>✓  Answer questions about available service categories</a:t>
            </a:r>
          </a:p>
          <a:p>
            <a:pPr algn="l">
              <a:spcBef>
                <a:spcPts val="900"/>
              </a:spcBef>
            </a:pPr>
            <a:r>
              <a:rPr sz="1100" b="0">
                <a:solidFill>
                  <a:srgbClr val="FFFFFF"/>
                </a:solidFill>
              </a:rPr>
              <a:t>✓  Guide customers on how to book a service</a:t>
            </a:r>
          </a:p>
          <a:p>
            <a:pPr algn="l">
              <a:spcBef>
                <a:spcPts val="900"/>
              </a:spcBef>
            </a:pPr>
            <a:r>
              <a:rPr sz="1100" b="0">
                <a:solidFill>
                  <a:srgbClr val="FFFFFF"/>
                </a:solidFill>
              </a:rPr>
              <a:t>✓  Explain the verification process for laborers</a:t>
            </a:r>
          </a:p>
          <a:p>
            <a:pPr algn="l">
              <a:spcBef>
                <a:spcPts val="900"/>
              </a:spcBef>
            </a:pPr>
            <a:r>
              <a:rPr sz="1100" b="0">
                <a:solidFill>
                  <a:srgbClr val="FFFFFF"/>
                </a:solidFill>
              </a:rPr>
              <a:t>✓  Provide general pricing guidance</a:t>
            </a:r>
          </a:p>
          <a:p>
            <a:pPr algn="l">
              <a:spcBef>
                <a:spcPts val="900"/>
              </a:spcBef>
            </a:pPr>
            <a:r>
              <a:rPr sz="1100" b="0">
                <a:solidFill>
                  <a:srgbClr val="FFFFFF"/>
                </a:solidFill>
              </a:rPr>
              <a:t>✓  Help customers navigate the platform</a:t>
            </a:r>
          </a:p>
          <a:p>
            <a:pPr algn="l">
              <a:spcBef>
                <a:spcPts val="900"/>
              </a:spcBef>
            </a:pPr>
            <a:r>
              <a:rPr sz="1100" b="0">
                <a:solidFill>
                  <a:srgbClr val="FFFFFF"/>
                </a:solidFill>
              </a:rPr>
              <a:t>✓  Contextual conversation history support</a:t>
            </a:r>
          </a:p>
        </p:txBody>
      </p:sp>
      <p:pic>
        <p:nvPicPr>
          <p:cNvPr id="17" name="Picture 16" descr="logo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91440"/>
            <a:ext cx="640080" cy="327894"/>
          </a:xfrm>
          <a:prstGeom prst="rect">
            <a:avLst/>
          </a:prstGeom>
        </p:spPr>
      </p:pic>
      <p:pic>
        <p:nvPicPr>
          <p:cNvPr id="18" name="Picture 17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7432" y="9144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Booking Lifecycle &amp;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00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5A623"/>
                </a:solidFill>
              </a:rPr>
              <a:t>End-to-End Booking State Machine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464808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DC3C7"/>
                </a:solidFill>
              </a:rPr>
              <a:t>Skilled Labor App  |  Final Year Project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926080"/>
            <a:ext cx="1828800" cy="9144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297180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PENDING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333756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Customer submits booking
with service, date, location &amp; price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0" y="1645920"/>
            <a:ext cx="1828800" cy="9144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57400" y="16916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ACCEPTED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20574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Laborer accepts
the job request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0" y="4206240"/>
            <a:ext cx="1828800" cy="9144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57400" y="4251959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DECLINED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461772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Laborer declines
the request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360" y="1645920"/>
            <a:ext cx="1828800" cy="914400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69080" y="16916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IN PROGRESS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69080" y="20574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Laborer marks
job as started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5040" y="1645920"/>
            <a:ext cx="1828800" cy="9144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80759" y="16916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COMPLETED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0759" y="20574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Job done, chat closed,
rating prompt shown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206240"/>
            <a:ext cx="1828800" cy="9144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69080" y="4251959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CANCELLED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69080" y="461772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Customer cancels
before start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35040" y="4206240"/>
            <a:ext cx="1828800" cy="9144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80759" y="4251959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RESCHEDULED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80759" y="461772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Booking date/time
changed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0" y="1280160"/>
            <a:ext cx="3657600" cy="498348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66760" y="137160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3A5F"/>
                </a:solidFill>
              </a:rPr>
              <a:t>📝  Booking Details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66760" y="1783080"/>
            <a:ext cx="338328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</a:pPr>
            <a:r>
              <a:rPr sz="1050" b="0">
                <a:solidFill>
                  <a:srgbClr val="2C3E50"/>
                </a:solidFill>
              </a:rPr>
              <a:t>• Customer selects laborer from search/profile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2C3E50"/>
                </a:solidFill>
              </a:rPr>
              <a:t>• Specifies service, description, date &amp; time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2C3E50"/>
                </a:solidFill>
              </a:rPr>
              <a:t>• Provides location (GPS or manual address)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2C3E50"/>
                </a:solidFill>
              </a:rPr>
              <a:t>• Sets agreed compensation amount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2C3E50"/>
                </a:solidFill>
              </a:rPr>
              <a:t>• Laborer notified via push notification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2C3E50"/>
                </a:solidFill>
              </a:rPr>
              <a:t>• Chat thread created on acceptance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2C3E50"/>
                </a:solidFill>
              </a:rPr>
              <a:t>• Work photos can be uploaded (Multer)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2C3E50"/>
                </a:solidFill>
              </a:rPr>
              <a:t>• Full audit log tracked on each booking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2C3E50"/>
                </a:solidFill>
              </a:rPr>
              <a:t>• Payment status: Pending → Paid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2C3E50"/>
                </a:solidFill>
              </a:rPr>
              <a:t>• Rating enabled only after completion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2C3E50"/>
                </a:solidFill>
              </a:rPr>
              <a:t>• Admin can view all bookings from web</a:t>
            </a:r>
          </a:p>
        </p:txBody>
      </p:sp>
      <p:pic>
        <p:nvPicPr>
          <p:cNvPr id="32" name="Picture 31" descr="logo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91440"/>
            <a:ext cx="640080" cy="327894"/>
          </a:xfrm>
          <a:prstGeom prst="rect">
            <a:avLst/>
          </a:prstGeom>
        </p:spPr>
      </p:pic>
      <p:pic>
        <p:nvPicPr>
          <p:cNvPr id="33" name="Picture 32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7432" y="9144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Verification &amp; Trust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00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5A623"/>
                </a:solidFill>
              </a:rPr>
              <a:t>Multi-Step Identity Verification for Laborers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464808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DC3C7"/>
                </a:solidFill>
              </a:rPr>
              <a:t>Skilled Labor App  |  Final Year Project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325880"/>
            <a:ext cx="548640" cy="6858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435607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1325880"/>
            <a:ext cx="2560320" cy="6858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463039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REGISTER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66160" y="1325880"/>
            <a:ext cx="521208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03320" y="141732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C3E50"/>
                </a:solidFill>
              </a:rPr>
              <a:t>Laborer signs up with phone number and sets password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176272"/>
            <a:ext cx="548640" cy="685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22860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2176272"/>
            <a:ext cx="2560320" cy="685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2313432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SUBMIT DOCS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66160" y="2176272"/>
            <a:ext cx="521208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03320" y="2267712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C3E50"/>
                </a:solidFill>
              </a:rPr>
              <a:t>Upload: Profile photo + National ID card image via Expo Image Picker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026664"/>
            <a:ext cx="548640" cy="6858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313639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3026664"/>
            <a:ext cx="2560320" cy="6858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3163824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PENDING REVIEW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566160" y="3026664"/>
            <a:ext cx="521208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03320" y="3118104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C3E50"/>
                </a:solidFill>
              </a:rPr>
              <a:t>Admin receives notification and views submitted documents in dashboard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3877056"/>
            <a:ext cx="548640" cy="685800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320" y="3986784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3877056"/>
            <a:ext cx="2560320" cy="685800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014216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ADMIN DECISION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566160" y="3877056"/>
            <a:ext cx="521208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03320" y="3968496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C3E50"/>
                </a:solidFill>
              </a:rPr>
              <a:t>Admin approves (status=approved) or rejects (with reason) via API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4727448"/>
            <a:ext cx="548640" cy="6858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4320" y="4837176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4400" y="4727448"/>
            <a:ext cx="2560320" cy="6858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0120" y="4864608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NOTIFICATION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566160" y="4727448"/>
            <a:ext cx="521208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703320" y="4818888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C3E50"/>
                </a:solidFill>
              </a:rPr>
              <a:t>Laborer receives in-app notification: approved or rejected with reason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5577840"/>
            <a:ext cx="548640" cy="6858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4320" y="568756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" y="5577840"/>
            <a:ext cx="2560320" cy="6858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0120" y="571500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RE-SUBMIT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566160" y="5577840"/>
            <a:ext cx="521208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703320" y="566928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C3E50"/>
                </a:solidFill>
              </a:rPr>
              <a:t>If rejected, laborer can correct and re-submit documents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052560" y="1325880"/>
            <a:ext cx="2926080" cy="50749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44000" y="1417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</a:rPr>
              <a:t>🔐  Trust Mechanisms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0" y="1874519"/>
            <a:ext cx="2743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050" b="0">
                <a:solidFill>
                  <a:srgbClr val="FFFFFF"/>
                </a:solidFill>
              </a:rPr>
              <a:t>✓  Status-gated API access</a:t>
            </a:r>
          </a:p>
          <a:p>
            <a:pPr algn="l">
              <a:spcBef>
                <a:spcPts val="800"/>
              </a:spcBef>
            </a:pPr>
            <a:r>
              <a:rPr sz="1050" b="0">
                <a:solidFill>
                  <a:srgbClr val="FFFFFF"/>
                </a:solidFill>
              </a:rPr>
              <a:t>✓  Blocked laborers get 403</a:t>
            </a:r>
          </a:p>
          <a:p>
            <a:pPr algn="l">
              <a:spcBef>
                <a:spcPts val="800"/>
              </a:spcBef>
            </a:pPr>
            <a:r>
              <a:rPr sz="1050" b="0">
                <a:solidFill>
                  <a:srgbClr val="FFFFFF"/>
                </a:solidFill>
              </a:rPr>
              <a:t>✓  Account warnings system</a:t>
            </a:r>
          </a:p>
          <a:p>
            <a:pPr algn="l">
              <a:spcBef>
                <a:spcPts val="800"/>
              </a:spcBef>
            </a:pPr>
            <a:r>
              <a:rPr sz="1050" b="0">
                <a:solidFill>
                  <a:srgbClr val="FFFFFF"/>
                </a:solidFill>
              </a:rPr>
              <a:t>✓  Temp &amp; permanent blocks</a:t>
            </a:r>
          </a:p>
          <a:p>
            <a:pPr algn="l">
              <a:spcBef>
                <a:spcPts val="800"/>
              </a:spcBef>
            </a:pPr>
            <a:r>
              <a:rPr sz="1050" b="0">
                <a:solidFill>
                  <a:srgbClr val="FFFFFF"/>
                </a:solidFill>
              </a:rPr>
              <a:t>✓  blockInfo audit trail</a:t>
            </a:r>
          </a:p>
          <a:p>
            <a:pPr algn="l">
              <a:spcBef>
                <a:spcPts val="800"/>
              </a:spcBef>
            </a:pPr>
            <a:r>
              <a:rPr sz="1050" b="0">
                <a:solidFill>
                  <a:srgbClr val="FFFFFF"/>
                </a:solidFill>
              </a:rPr>
              <a:t>✓  verificationHistory log</a:t>
            </a:r>
          </a:p>
          <a:p>
            <a:pPr algn="l">
              <a:spcBef>
                <a:spcPts val="800"/>
              </a:spcBef>
            </a:pPr>
            <a:r>
              <a:rPr sz="1050" b="0">
                <a:solidFill>
                  <a:srgbClr val="FFFFFF"/>
                </a:solidFill>
              </a:rPr>
              <a:t>✓  Admin action audit log</a:t>
            </a:r>
          </a:p>
          <a:p>
            <a:pPr algn="l">
              <a:spcBef>
                <a:spcPts val="800"/>
              </a:spcBef>
            </a:pPr>
            <a:r>
              <a:rPr sz="1050" b="0">
                <a:solidFill>
                  <a:srgbClr val="FFFFFF"/>
                </a:solidFill>
              </a:rPr>
              <a:t>✓  Submission stored safely</a:t>
            </a:r>
          </a:p>
          <a:p>
            <a:pPr algn="l">
              <a:spcBef>
                <a:spcPts val="800"/>
              </a:spcBef>
            </a:pPr>
            <a:r>
              <a:rPr sz="1050" b="0">
                <a:solidFill>
                  <a:srgbClr val="FFFFFF"/>
                </a:solidFill>
              </a:rPr>
              <a:t>✓  Profile updated only on approval</a:t>
            </a:r>
          </a:p>
          <a:p>
            <a:pPr algn="l">
              <a:spcBef>
                <a:spcPts val="800"/>
              </a:spcBef>
            </a:pPr>
            <a:r>
              <a:rPr sz="1050" b="0">
                <a:solidFill>
                  <a:srgbClr val="FFFFFF"/>
                </a:solidFill>
              </a:rPr>
              <a:t>✓  ID card images stored securely</a:t>
            </a:r>
          </a:p>
          <a:p>
            <a:pPr algn="l">
              <a:spcBef>
                <a:spcPts val="800"/>
              </a:spcBef>
            </a:pPr>
            <a:r>
              <a:rPr sz="1050" b="0">
                <a:solidFill>
                  <a:srgbClr val="FFFFFF"/>
                </a:solidFill>
              </a:rPr>
              <a:t>✓  Laborer visible in search only when approved + available</a:t>
            </a:r>
          </a:p>
        </p:txBody>
      </p:sp>
      <p:pic>
        <p:nvPicPr>
          <p:cNvPr id="47" name="Picture 46" descr="logo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91440"/>
            <a:ext cx="640080" cy="327894"/>
          </a:xfrm>
          <a:prstGeom prst="rect">
            <a:avLst/>
          </a:prstGeom>
        </p:spPr>
      </p:pic>
      <p:pic>
        <p:nvPicPr>
          <p:cNvPr id="48" name="Picture 47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7432" y="9144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Ratings &amp; Reviews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00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5A623"/>
                </a:solidFill>
              </a:rPr>
              <a:t>Quality Assurance Through Peer Accountability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464808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DC3C7"/>
                </a:solidFill>
              </a:rPr>
              <a:t>Skilled Labor App  |  Final Year Project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280160"/>
            <a:ext cx="7315200" cy="4983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371600"/>
            <a:ext cx="7040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3A5F"/>
                </a:solidFill>
              </a:rPr>
              <a:t>⭐  Rating System Details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828800"/>
            <a:ext cx="1920240" cy="34747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1865376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When triggered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23160" y="1874519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Only after booking status = 'Completed' — prevents fake reviews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258568"/>
            <a:ext cx="1920240" cy="34747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2295144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Who rates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23160" y="2304287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Customer rates the laborer (not bidirectional at this stage)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2688336"/>
            <a:ext cx="1920240" cy="34747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2724912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Scale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23160" y="273405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0.5 to 5 stars (half-star precision) with optional comment (max 500 chars)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118104"/>
            <a:ext cx="1920240" cy="34747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315468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Uniqueness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316382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One rating per customer per booking (unique index in JobRating model)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3547872"/>
            <a:ext cx="1920240" cy="34747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3584448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Average calc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60" y="3593591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Server recalculates laborer's average rating using ratingUtils.js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3977639"/>
            <a:ext cx="1920240" cy="34747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4014215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Formula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23160" y="4023359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newAvg = (oldAvg × oldCount + newRating) / (oldCount + 1)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4407408"/>
            <a:ext cx="1920240" cy="34747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0" y="4443984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Storage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23160" y="445312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JobRating model + laborer.rating field updated atomically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4837176"/>
            <a:ext cx="1920240" cy="34747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" y="4873752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Display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23160" y="488289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Shown on laborer profile, search results, and customer's booking history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5266944"/>
            <a:ext cx="1920240" cy="34747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30352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Admin view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23160" y="531266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Admins can see ratings when taking account actions (warnings/blocks)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696712"/>
            <a:ext cx="1920240" cy="34747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80" y="5733288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Impact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23160" y="5742431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Low ratings can trigger admin warnings and account actions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863840" y="1280160"/>
            <a:ext cx="4023360" cy="49834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01000" y="137160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A623"/>
                </a:solidFill>
              </a:rPr>
              <a:t>📈  Impact on Platform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01000" y="1874519"/>
            <a:ext cx="3749039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150" b="0">
                <a:solidFill>
                  <a:srgbClr val="FFFFFF"/>
                </a:solidFill>
              </a:rPr>
              <a:t>→  Highly-rated laborers appear first in search results</a:t>
            </a:r>
          </a:p>
          <a:p>
            <a:pPr algn="l">
              <a:spcBef>
                <a:spcPts val="1000"/>
              </a:spcBef>
            </a:pPr>
            <a:r>
              <a:rPr sz="1150" b="0">
                <a:solidFill>
                  <a:srgbClr val="FFFFFF"/>
                </a:solidFill>
              </a:rPr>
              <a:t>→  Rating visible on public laborer profile</a:t>
            </a:r>
          </a:p>
          <a:p>
            <a:pPr algn="l">
              <a:spcBef>
                <a:spcPts val="1000"/>
              </a:spcBef>
            </a:pPr>
            <a:r>
              <a:rPr sz="1150" b="0">
                <a:solidFill>
                  <a:srgbClr val="FFFFFF"/>
                </a:solidFill>
              </a:rPr>
              <a:t>→  Customer confidence before booking</a:t>
            </a:r>
          </a:p>
          <a:p>
            <a:pPr algn="l">
              <a:spcBef>
                <a:spcPts val="1000"/>
              </a:spcBef>
            </a:pPr>
            <a:r>
              <a:rPr sz="1150" b="0">
                <a:solidFill>
                  <a:srgbClr val="FFFFFF"/>
                </a:solidFill>
              </a:rPr>
              <a:t>→  Admin uses rating in warning/block decisions</a:t>
            </a:r>
          </a:p>
          <a:p>
            <a:pPr algn="l">
              <a:spcBef>
                <a:spcPts val="1000"/>
              </a:spcBef>
            </a:pPr>
            <a:r>
              <a:rPr sz="1150" b="0">
                <a:solidFill>
                  <a:srgbClr val="FFFFFF"/>
                </a:solidFill>
              </a:rPr>
              <a:t>→  Laborers motivated to deliver quality service</a:t>
            </a:r>
          </a:p>
          <a:p>
            <a:pPr algn="l">
              <a:spcBef>
                <a:spcPts val="1000"/>
              </a:spcBef>
            </a:pPr>
            <a:r>
              <a:rPr sz="1150" b="0">
                <a:solidFill>
                  <a:srgbClr val="FFFFFF"/>
                </a:solidFill>
              </a:rPr>
              <a:t>→  Review comment provides qualitative feedback</a:t>
            </a:r>
          </a:p>
          <a:p>
            <a:pPr algn="l">
              <a:spcBef>
                <a:spcPts val="1000"/>
              </a:spcBef>
            </a:pPr>
            <a:r>
              <a:rPr sz="1150" b="0">
                <a:solidFill>
                  <a:srgbClr val="FFFFFF"/>
                </a:solidFill>
              </a:rPr>
              <a:t>→  Completed jobs counter builds credibility</a:t>
            </a:r>
          </a:p>
          <a:p>
            <a:pPr algn="l">
              <a:spcBef>
                <a:spcPts val="1000"/>
              </a:spcBef>
            </a:pPr>
            <a:r>
              <a:rPr sz="1150" b="0">
                <a:solidFill>
                  <a:srgbClr val="FFFFFF"/>
                </a:solidFill>
              </a:rPr>
              <a:t>→  Rating at time of warning stored in blockInfo</a:t>
            </a:r>
          </a:p>
          <a:p>
            <a:pPr algn="l">
              <a:spcBef>
                <a:spcPts val="1000"/>
              </a:spcBef>
            </a:pPr>
            <a:r>
              <a:rPr sz="1150" b="0">
                <a:solidFill>
                  <a:srgbClr val="FFFFFF"/>
                </a:solidFill>
              </a:rPr>
              <a:t>→  Creates accountability in the marketplace</a:t>
            </a:r>
          </a:p>
        </p:txBody>
      </p:sp>
      <p:pic>
        <p:nvPicPr>
          <p:cNvPr id="43" name="Picture 42" descr="logo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91440"/>
            <a:ext cx="640080" cy="327894"/>
          </a:xfrm>
          <a:prstGeom prst="rect">
            <a:avLst/>
          </a:prstGeom>
        </p:spPr>
      </p:pic>
      <p:pic>
        <p:nvPicPr>
          <p:cNvPr id="44" name="Picture 4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7432" y="9144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Service Categories &amp; Subcategories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00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5A623"/>
                </a:solidFill>
              </a:rPr>
              <a:t>12 Main Categories · 48+ Subcategory Services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464808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DC3C7"/>
                </a:solidFill>
              </a:rPr>
              <a:t>Skilled Labor App  |  Final Year Project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325880"/>
            <a:ext cx="2834640" cy="16459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399032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🔧  Mounting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783080"/>
            <a:ext cx="2651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TV Mounting · Furniture Mounting · Shelf Mounting · Art &amp; Mirror Mounting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1325880"/>
            <a:ext cx="2834640" cy="164592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1399032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🪛  Assembly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1783080"/>
            <a:ext cx="2651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Furniture · Exercise Equipment · Patio Furniture · Desk Assembly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1325880"/>
            <a:ext cx="2834640" cy="1645920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1399032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📦  Moving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783080"/>
            <a:ext cx="2651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Help Moving · Truck Assisted Moving · Packing Services · Heavy Lifting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0" y="1325880"/>
            <a:ext cx="2834640" cy="16459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0" y="1399032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✨  Cleaning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0" y="1783080"/>
            <a:ext cx="2651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House Cleaning · Deep Cleaning · Move In/Out Cleaning · Carpet Cleaning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8600" y="3108960"/>
            <a:ext cx="2834640" cy="16459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3182112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💡  Electrician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" y="3566160"/>
            <a:ext cx="2651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Wiring · Lighting · Outlet Repair · Circuit Breaker · Panel Upgrades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0" y="3108960"/>
            <a:ext cx="2834640" cy="164592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91840" y="3182112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🎨  Painter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91840" y="3566160"/>
            <a:ext cx="2651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Interior · Exterior · Cabinet Painting · Wallpaper Installation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3108960"/>
            <a:ext cx="2834640" cy="16459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63640" y="3182112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🔨  Carpenter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3566160"/>
            <a:ext cx="2651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Custom Shelving · Cabinet Installation · Trim &amp; Molding · Door Repair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0" y="3108960"/>
            <a:ext cx="2834640" cy="164592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35440" y="3182112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❄️  HVAC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3566160"/>
            <a:ext cx="2651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AC Install/Repair · Heater Repair · Duct Cleaning · Thermostat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28600" y="4892040"/>
            <a:ext cx="2834640" cy="1645920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0040" y="4965192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🏠  Roofing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" y="5349240"/>
            <a:ext cx="2651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Roof Inspection · Leak Repair · Shingle Replacement · Gutter Cleaning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0" y="4892040"/>
            <a:ext cx="2834640" cy="16459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91840" y="4965192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🟫  Tiling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91840" y="5349240"/>
            <a:ext cx="2651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Floor Tiling · Wall Tiling · Backsplash Installation · Grout Repair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72200" y="4892040"/>
            <a:ext cx="2834640" cy="16459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63640" y="4965192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🌿  Gardening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3640" y="5349240"/>
            <a:ext cx="2651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Lawn Mowing · Weeding · Planting · Tree Trimming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44000" y="4892040"/>
            <a:ext cx="2834640" cy="164592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35440" y="4965192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⚙️  Appliance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35440" y="5349240"/>
            <a:ext cx="2651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Fridge · Washer/Dryer · Dishwasher · Oven/Stove Repair</a:t>
            </a:r>
          </a:p>
        </p:txBody>
      </p:sp>
      <p:pic>
        <p:nvPicPr>
          <p:cNvPr id="44" name="Picture 43" descr="logo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91440"/>
            <a:ext cx="640080" cy="327894"/>
          </a:xfrm>
          <a:prstGeom prst="rect">
            <a:avLst/>
          </a:prstGeom>
        </p:spPr>
      </p:pic>
      <p:pic>
        <p:nvPicPr>
          <p:cNvPr id="45" name="Picture 44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7432" y="9144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API Design &amp; Endpoints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00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5A623"/>
                </a:solidFill>
              </a:rPr>
              <a:t>RESTful JSON API – Express.js Router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464808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DC3C7"/>
                </a:solidFill>
              </a:rPr>
              <a:t>Skilled Labor App  |  Final Year Project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280160"/>
            <a:ext cx="2606040" cy="4937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" y="1280160"/>
            <a:ext cx="2606040" cy="4114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1325880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Users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" y="1755648"/>
            <a:ext cx="2468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500"/>
              </a:spcBef>
            </a:pPr>
            <a:r>
              <a:rPr sz="850" b="0">
                <a:solidFill>
                  <a:srgbClr val="2C3E50"/>
                </a:solidFill>
              </a:rPr>
              <a:t>POST /api/users  →  Register laborer</a:t>
            </a:r>
          </a:p>
          <a:p>
            <a:pPr algn="l">
              <a:spcBef>
                <a:spcPts val="500"/>
              </a:spcBef>
            </a:pPr>
            <a:r>
              <a:rPr sz="850" b="0">
                <a:solidFill>
                  <a:srgbClr val="2C3E50"/>
                </a:solidFill>
              </a:rPr>
              <a:t>POST /api/users/login  →  Login (JWT token)</a:t>
            </a:r>
          </a:p>
          <a:p>
            <a:pPr algn="l">
              <a:spcBef>
                <a:spcPts val="500"/>
              </a:spcBef>
            </a:pPr>
            <a:r>
              <a:rPr sz="850" b="0">
                <a:solidFill>
                  <a:srgbClr val="2C3E50"/>
                </a:solidFill>
              </a:rPr>
              <a:t>GET  /api/users  →  List all users (admin)</a:t>
            </a:r>
          </a:p>
          <a:p>
            <a:pPr algn="l">
              <a:spcBef>
                <a:spcPts val="500"/>
              </a:spcBef>
            </a:pPr>
            <a:r>
              <a:rPr sz="850" b="0">
                <a:solidFill>
                  <a:srgbClr val="2C3E50"/>
                </a:solidFill>
              </a:rPr>
              <a:t>GET  /api/users/profile  →  My profile</a:t>
            </a:r>
          </a:p>
          <a:p>
            <a:pPr algn="l">
              <a:spcBef>
                <a:spcPts val="500"/>
              </a:spcBef>
            </a:pPr>
            <a:r>
              <a:rPr sz="850" b="0">
                <a:solidFill>
                  <a:srgbClr val="2C3E50"/>
                </a:solidFill>
              </a:rPr>
              <a:t>PUT  /api/users/availability  →  Toggle availability</a:t>
            </a:r>
          </a:p>
          <a:p>
            <a:pPr algn="l">
              <a:spcBef>
                <a:spcPts val="500"/>
              </a:spcBef>
            </a:pPr>
            <a:r>
              <a:rPr sz="850" b="0">
                <a:solidFill>
                  <a:srgbClr val="2C3E50"/>
                </a:solidFill>
              </a:rPr>
              <a:t>PUT  /api/users/location  →  Update GPS location</a:t>
            </a:r>
          </a:p>
          <a:p>
            <a:pPr algn="l">
              <a:spcBef>
                <a:spcPts val="500"/>
              </a:spcBef>
            </a:pPr>
            <a:r>
              <a:rPr sz="850" b="0">
                <a:solidFill>
                  <a:srgbClr val="2C3E50"/>
                </a:solidFill>
              </a:rPr>
              <a:t>PUT  /api/users/subcategories  →  Update skill set</a:t>
            </a:r>
          </a:p>
          <a:p>
            <a:pPr algn="l">
              <a:spcBef>
                <a:spcPts val="500"/>
              </a:spcBef>
            </a:pPr>
            <a:r>
              <a:rPr sz="850" b="0">
                <a:solidFill>
                  <a:srgbClr val="2C3E50"/>
                </a:solidFill>
              </a:rPr>
              <a:t>PUT  /api/users/:id/verification  →  Submit docs (multipart)</a:t>
            </a:r>
          </a:p>
          <a:p>
            <a:pPr algn="l">
              <a:spcBef>
                <a:spcPts val="500"/>
              </a:spcBef>
            </a:pPr>
            <a:r>
              <a:rPr sz="850" b="0">
                <a:solidFill>
                  <a:srgbClr val="2C3E50"/>
                </a:solidFill>
              </a:rPr>
              <a:t>PUT  /api/users/:id/status  →  Admin: change status</a:t>
            </a:r>
          </a:p>
          <a:p>
            <a:pPr algn="l">
              <a:spcBef>
                <a:spcPts val="500"/>
              </a:spcBef>
            </a:pPr>
            <a:r>
              <a:rPr sz="850" b="0">
                <a:solidFill>
                  <a:srgbClr val="2C3E50"/>
                </a:solidFill>
              </a:rPr>
              <a:t>PUT  /api/users/:id/account-action  →  Admin: warn/block</a:t>
            </a:r>
          </a:p>
          <a:p>
            <a:pPr algn="l">
              <a:spcBef>
                <a:spcPts val="500"/>
              </a:spcBef>
            </a:pPr>
            <a:r>
              <a:rPr sz="850" b="0">
                <a:solidFill>
                  <a:srgbClr val="2C3E50"/>
                </a:solidFill>
              </a:rPr>
              <a:t>GET  /api/users/:id/public  →  Public laborer profile</a:t>
            </a:r>
          </a:p>
          <a:p>
            <a:pPr algn="l">
              <a:spcBef>
                <a:spcPts val="500"/>
              </a:spcBef>
            </a:pPr>
            <a:r>
              <a:rPr sz="850" b="0">
                <a:solidFill>
                  <a:srgbClr val="2C3E50"/>
                </a:solidFill>
              </a:rPr>
              <a:t>GET  /api/users/notifications  →  Get notifications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14600" y="1280160"/>
            <a:ext cx="2606040" cy="4937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14600" y="1280160"/>
            <a:ext cx="2606040" cy="411480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60320" y="1325880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Bookings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87752" y="1755648"/>
            <a:ext cx="2468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500"/>
              </a:spcBef>
            </a:pPr>
            <a:r>
              <a:rPr sz="850" b="0">
                <a:solidFill>
                  <a:srgbClr val="2C3E50"/>
                </a:solidFill>
              </a:rPr>
              <a:t>POST /api/bookings  →  Create booking (customer)</a:t>
            </a:r>
          </a:p>
          <a:p>
            <a:pPr algn="l">
              <a:spcBef>
                <a:spcPts val="500"/>
              </a:spcBef>
            </a:pPr>
            <a:r>
              <a:rPr sz="850" b="0">
                <a:solidFill>
                  <a:srgbClr val="2C3E50"/>
                </a:solidFill>
              </a:rPr>
              <a:t>GET  /api/bookings  →  My bookings</a:t>
            </a:r>
          </a:p>
          <a:p>
            <a:pPr algn="l">
              <a:spcBef>
                <a:spcPts val="500"/>
              </a:spcBef>
            </a:pPr>
            <a:r>
              <a:rPr sz="850" b="0">
                <a:solidFill>
                  <a:srgbClr val="2C3E50"/>
                </a:solidFill>
              </a:rPr>
              <a:t>GET  /api/bookings/:id  →  Booking details</a:t>
            </a:r>
          </a:p>
          <a:p>
            <a:pPr algn="l">
              <a:spcBef>
                <a:spcPts val="500"/>
              </a:spcBef>
            </a:pPr>
            <a:r>
              <a:rPr sz="850" b="0">
                <a:solidFill>
                  <a:srgbClr val="2C3E50"/>
                </a:solidFill>
              </a:rPr>
              <a:t>PUT  /api/bookings/:id  →  Update status (laborer)</a:t>
            </a:r>
          </a:p>
          <a:p>
            <a:pPr algn="l">
              <a:spcBef>
                <a:spcPts val="500"/>
              </a:spcBef>
            </a:pPr>
            <a:r>
              <a:rPr sz="850" b="0">
                <a:solidFill>
                  <a:srgbClr val="2C3E50"/>
                </a:solidFill>
              </a:rPr>
              <a:t>POST /api/bookings/:id/cancel  →  Cancel (customer)</a:t>
            </a:r>
          </a:p>
          <a:p>
            <a:pPr algn="l">
              <a:spcBef>
                <a:spcPts val="500"/>
              </a:spcBef>
            </a:pPr>
            <a:r>
              <a:rPr sz="850" b="0">
                <a:solidFill>
                  <a:srgbClr val="2C3E50"/>
                </a:solidFill>
              </a:rPr>
              <a:t>POST /api/bookings/:id/rate  →  Submit rating (customer)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00600" y="1280160"/>
            <a:ext cx="2606040" cy="4937760"/>
          </a:xfrm>
          <a:prstGeom prst="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00600" y="1280160"/>
            <a:ext cx="2606040" cy="4114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0" y="1325880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Services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73752" y="1755648"/>
            <a:ext cx="2468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500"/>
              </a:spcBef>
            </a:pPr>
            <a:r>
              <a:rPr sz="850" b="0">
                <a:solidFill>
                  <a:srgbClr val="2C3E50"/>
                </a:solidFill>
              </a:rPr>
              <a:t>POST /api/services  →  Create/update offering (laborer)</a:t>
            </a:r>
          </a:p>
          <a:p>
            <a:pPr algn="l">
              <a:spcBef>
                <a:spcPts val="500"/>
              </a:spcBef>
            </a:pPr>
            <a:r>
              <a:rPr sz="850" b="0">
                <a:solidFill>
                  <a:srgbClr val="2C3E50"/>
                </a:solidFill>
              </a:rPr>
              <a:t>GET  /api/services/mine  →  My offerings</a:t>
            </a:r>
          </a:p>
          <a:p>
            <a:pPr algn="l">
              <a:spcBef>
                <a:spcPts val="500"/>
              </a:spcBef>
            </a:pPr>
            <a:r>
              <a:rPr sz="850" b="0">
                <a:solidFill>
                  <a:srgbClr val="2C3E50"/>
                </a:solidFill>
              </a:rPr>
              <a:t>DELETE /api/services/:id  →  Remove offering</a:t>
            </a:r>
          </a:p>
          <a:p>
            <a:pPr algn="l">
              <a:spcBef>
                <a:spcPts val="500"/>
              </a:spcBef>
            </a:pPr>
            <a:r>
              <a:rPr sz="850" b="0">
                <a:solidFill>
                  <a:srgbClr val="2C3E50"/>
                </a:solidFill>
              </a:rPr>
              <a:t>GET  /api/services/search-laborers  →  Search (public)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86600" y="1280160"/>
            <a:ext cx="2606040" cy="4937760"/>
          </a:xfrm>
          <a:prstGeom prst="rect">
            <a:avLst/>
          </a:prstGeom>
          <a:solidFill>
            <a:srgbClr val="FFFFFF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086600" y="1280160"/>
            <a:ext cx="2606040" cy="4114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32320" y="1325880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Chat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9752" y="1755648"/>
            <a:ext cx="2468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500"/>
              </a:spcBef>
            </a:pPr>
            <a:r>
              <a:rPr sz="850" b="0">
                <a:solidFill>
                  <a:srgbClr val="2C3E50"/>
                </a:solidFill>
              </a:rPr>
              <a:t>GET  /api/chat  →  My chats list</a:t>
            </a:r>
          </a:p>
          <a:p>
            <a:pPr algn="l">
              <a:spcBef>
                <a:spcPts val="500"/>
              </a:spcBef>
            </a:pPr>
            <a:r>
              <a:rPr sz="850" b="0">
                <a:solidFill>
                  <a:srgbClr val="2C3E50"/>
                </a:solidFill>
              </a:rPr>
              <a:t>GET  /api/chat/:id/messages  →  Chat history</a:t>
            </a:r>
          </a:p>
          <a:p>
            <a:pPr algn="l">
              <a:spcBef>
                <a:spcPts val="500"/>
              </a:spcBef>
            </a:pPr>
            <a:r>
              <a:rPr sz="850" b="0">
                <a:solidFill>
                  <a:srgbClr val="2C3E50"/>
                </a:solidFill>
              </a:rPr>
              <a:t>POST /api/chat/:id/messages  →  Send message (REST fallback)</a:t>
            </a:r>
          </a:p>
          <a:p>
            <a:pPr algn="l">
              <a:spcBef>
                <a:spcPts val="500"/>
              </a:spcBef>
            </a:pPr>
            <a:r>
              <a:rPr sz="850" b="0">
                <a:solidFill>
                  <a:srgbClr val="2C3E50"/>
                </a:solidFill>
              </a:rPr>
              <a:t>POST /api/chat/:id/read  →  Mark as read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72600" y="1280160"/>
            <a:ext cx="2606040" cy="4937760"/>
          </a:xfrm>
          <a:prstGeom prst="rect">
            <a:avLst/>
          </a:prstGeom>
          <a:solidFill>
            <a:srgbClr val="FFFFFF"/>
          </a:solidFill>
          <a:ln w="19050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372600" y="1280160"/>
            <a:ext cx="2606040" cy="41148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18320" y="1325880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Dashboard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45752" y="1755648"/>
            <a:ext cx="2468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500"/>
              </a:spcBef>
            </a:pPr>
            <a:r>
              <a:rPr sz="850" b="0">
                <a:solidFill>
                  <a:srgbClr val="2C3E50"/>
                </a:solidFill>
              </a:rPr>
              <a:t>GET /api/dashboard  →  Admin stats</a:t>
            </a:r>
          </a:p>
          <a:p>
            <a:pPr algn="l">
              <a:spcBef>
                <a:spcPts val="500"/>
              </a:spcBef>
            </a:pPr>
            <a:r>
              <a:rPr sz="850" b="0">
                <a:solidFill>
                  <a:srgbClr val="2C3E50"/>
                </a:solidFill>
              </a:rPr>
              <a:t>GET /api/dashboard/laborer-stats  →  Laborer analytics</a:t>
            </a:r>
          </a:p>
          <a:p>
            <a:pPr algn="l">
              <a:spcBef>
                <a:spcPts val="500"/>
              </a:spcBef>
            </a:pPr>
            <a:r>
              <a:rPr sz="850" b="0">
                <a:solidFill>
                  <a:srgbClr val="2C3E50"/>
                </a:solidFill>
              </a:rPr>
              <a:t>GET /api/categories  →  All categories+subcategories</a:t>
            </a:r>
          </a:p>
          <a:p>
            <a:pPr algn="l">
              <a:spcBef>
                <a:spcPts val="500"/>
              </a:spcBef>
            </a:pPr>
            <a:r>
              <a:rPr sz="850" b="0">
                <a:solidFill>
                  <a:srgbClr val="2C3E50"/>
                </a:solidFill>
              </a:rPr>
              <a:t>POST /api/chatbot/message  →  AI chatbot</a:t>
            </a:r>
          </a:p>
          <a:p>
            <a:pPr algn="l">
              <a:spcBef>
                <a:spcPts val="500"/>
              </a:spcBef>
            </a:pPr>
            <a:r>
              <a:rPr sz="850" b="0">
                <a:solidFill>
                  <a:srgbClr val="2C3E50"/>
                </a:solidFill>
              </a:rPr>
              <a:t>GET /api/customers  →  Customer list (admin)</a:t>
            </a:r>
          </a:p>
        </p:txBody>
      </p:sp>
      <p:pic>
        <p:nvPicPr>
          <p:cNvPr id="28" name="Picture 27" descr="logo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91440"/>
            <a:ext cx="640080" cy="327894"/>
          </a:xfrm>
          <a:prstGeom prst="rect">
            <a:avLst/>
          </a:prstGeom>
        </p:spPr>
      </p:pic>
      <p:pic>
        <p:nvPicPr>
          <p:cNvPr id="29" name="Picture 28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7432" y="9144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Testing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00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5A623"/>
                </a:solidFill>
              </a:rPr>
              <a:t>Jest + Supertest – Backend Unit &amp; Integration Tests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464808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DC3C7"/>
                </a:solidFill>
              </a:rPr>
              <a:t>Skilled Labor App  |  Final Year Project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280160"/>
            <a:ext cx="5760720" cy="4983480"/>
          </a:xfrm>
          <a:prstGeom prst="rect">
            <a:avLst/>
          </a:prstGeom>
          <a:solidFill>
            <a:srgbClr val="FFFFFF"/>
          </a:solidFill>
          <a:ln w="63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3533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3A5F"/>
                </a:solidFill>
              </a:rPr>
              <a:t>📁  Test Files (1/2)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783080"/>
            <a:ext cx="5577840" cy="36576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819656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E3A5F"/>
                </a:solidFill>
              </a:rPr>
              <a:t>booking_customer_actions.test.js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40" y="182880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C3E50"/>
                </a:solidFill>
              </a:rPr>
              <a:t>Customer booking cancellation and status change actions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221991"/>
            <a:ext cx="557784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25856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E3A5F"/>
                </a:solidFill>
              </a:rPr>
              <a:t>booking_detail_authorization.test.js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2267711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C3E50"/>
                </a:solidFill>
              </a:rPr>
              <a:t>Authorization checks on booking detail access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660904"/>
            <a:ext cx="5577840" cy="36576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69748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E3A5F"/>
                </a:solidFill>
              </a:rPr>
              <a:t>booking_filtering.test.js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3240" y="2706624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C3E50"/>
                </a:solidFill>
              </a:rPr>
              <a:t>Booking filter by status, date, and user role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099815"/>
            <a:ext cx="557784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136391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E3A5F"/>
                </a:solidFill>
              </a:rPr>
              <a:t>booking_getById.test.js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145535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C3E50"/>
                </a:solidFill>
              </a:rPr>
              <a:t>Single booking retrieval and response format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538728"/>
            <a:ext cx="5577840" cy="36576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3575304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E3A5F"/>
                </a:solidFill>
              </a:rPr>
              <a:t>booking_response.test.js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63240" y="358444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C3E50"/>
                </a:solidFill>
              </a:rPr>
              <a:t>Booking API response structure validation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977639"/>
            <a:ext cx="557784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014215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E3A5F"/>
                </a:solidFill>
              </a:rPr>
              <a:t>booking_service_consistency.test.js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63240" y="4023359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C3E50"/>
                </a:solidFill>
              </a:rPr>
              <a:t>Service data consistency across booking flow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4416552"/>
            <a:ext cx="5577840" cy="36576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445312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E3A5F"/>
                </a:solidFill>
              </a:rPr>
              <a:t>booking_visibility.test.js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63240" y="4462272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C3E50"/>
                </a:solidFill>
              </a:rPr>
              <a:t>Which bookings each role can see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4855464"/>
            <a:ext cx="557784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489204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E3A5F"/>
                </a:solidFill>
              </a:rPr>
              <a:t>customer_signup.test.js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63240" y="4901183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C3E50"/>
                </a:solidFill>
              </a:rPr>
              <a:t>Customer registration, validation, duplicate checks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5294376"/>
            <a:ext cx="5577840" cy="36576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5330952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E3A5F"/>
                </a:solidFill>
              </a:rPr>
              <a:t>customers_flow.test.js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63240" y="5340096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C3E50"/>
                </a:solidFill>
              </a:rPr>
              <a:t>Full customer lifecycle flow testing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5733288"/>
            <a:ext cx="557784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5769864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E3A5F"/>
                </a:solidFill>
              </a:rPr>
              <a:t>customers_isolation.test.js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63240" y="577900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C3E50"/>
                </a:solidFill>
              </a:rPr>
              <a:t>Customer data isolation between users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09360" y="1280160"/>
            <a:ext cx="5577840" cy="4983480"/>
          </a:xfrm>
          <a:prstGeom prst="rect">
            <a:avLst/>
          </a:prstGeom>
          <a:solidFill>
            <a:srgbClr val="FFFFFF"/>
          </a:solidFill>
          <a:ln w="6350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46520" y="135331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6A085"/>
                </a:solidFill>
              </a:rPr>
              <a:t>📁  Test Files (2/2)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1783080"/>
            <a:ext cx="5394960" cy="36576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92240" y="1819656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6A085"/>
                </a:solidFill>
              </a:rPr>
              <a:t>customers_location.test.js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06840" y="18288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C3E50"/>
                </a:solidFill>
              </a:rPr>
              <a:t>Location update and query functionality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00800" y="2221991"/>
            <a:ext cx="53949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92240" y="2258568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6A085"/>
                </a:solidFill>
              </a:rPr>
              <a:t>laborer_signup.test.js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06840" y="2267711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C3E50"/>
                </a:solidFill>
              </a:rPr>
              <a:t>Laborer registration with phone number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00800" y="2660904"/>
            <a:ext cx="5394960" cy="36576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92240" y="2697480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6A085"/>
                </a:solidFill>
              </a:rPr>
              <a:t>notification.test.js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06840" y="2706624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C3E50"/>
                </a:solidFill>
              </a:rPr>
              <a:t>Notification creation and read marking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00800" y="3099815"/>
            <a:ext cx="53949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92240" y="3136391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6A085"/>
                </a:solidFill>
              </a:rPr>
              <a:t>rating_flow.test.js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06840" y="3145535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C3E50"/>
                </a:solidFill>
              </a:rPr>
              <a:t>End-to-end rating submission and average update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400800" y="3538728"/>
            <a:ext cx="5394960" cy="36576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92240" y="3575304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6A085"/>
                </a:solidFill>
              </a:rPr>
              <a:t>rating_utils.test.js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006840" y="358444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C3E50"/>
                </a:solidFill>
              </a:rPr>
              <a:t>Rating calculation algorithm unit tests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400800" y="3977639"/>
            <a:ext cx="53949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92240" y="4014215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6A085"/>
                </a:solidFill>
              </a:rPr>
              <a:t>search_filters.test.js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006840" y="4023359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C3E50"/>
                </a:solidFill>
              </a:rPr>
              <a:t>Laborer search with various filter combinations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400800" y="4416552"/>
            <a:ext cx="5394960" cy="36576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92240" y="4453128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6A085"/>
                </a:solidFill>
              </a:rPr>
              <a:t>search_laborers.test.js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06840" y="446227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C3E50"/>
                </a:solidFill>
              </a:rPr>
              <a:t>Search by category, subcategory, location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400800" y="4855464"/>
            <a:ext cx="53949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492240" y="4892040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6A085"/>
                </a:solidFill>
              </a:rPr>
              <a:t>search_visibility.test.js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06840" y="4901183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C3E50"/>
                </a:solidFill>
              </a:rPr>
              <a:t>Only approved+available laborers appear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400800" y="5294376"/>
            <a:ext cx="5394960" cy="36576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492240" y="5330952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6A085"/>
                </a:solidFill>
              </a:rPr>
              <a:t>verification_api.test.js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06840" y="5340096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C3E50"/>
                </a:solidFill>
              </a:rPr>
              <a:t>Document submission API endpoint tests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400800" y="5733288"/>
            <a:ext cx="53949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92240" y="5769864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6A085"/>
                </a:solidFill>
              </a:rPr>
              <a:t>verification_workflow.test.js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06840" y="577900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C3E50"/>
                </a:solidFill>
              </a:rPr>
              <a:t>Admin approval/rejection workflow tests</a:t>
            </a:r>
          </a:p>
        </p:txBody>
      </p:sp>
      <p:pic>
        <p:nvPicPr>
          <p:cNvPr id="72" name="Picture 71" descr="logo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91440"/>
            <a:ext cx="640080" cy="327894"/>
          </a:xfrm>
          <a:prstGeom prst="rect">
            <a:avLst/>
          </a:prstGeom>
        </p:spPr>
      </p:pic>
      <p:pic>
        <p:nvPicPr>
          <p:cNvPr id="73" name="Picture 72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7432" y="9144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Security Implementation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00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5A623"/>
                </a:solidFill>
              </a:rPr>
              <a:t>Multi-Layer Security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464808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DC3C7"/>
                </a:solidFill>
              </a:rPr>
              <a:t>Skilled Labor App  |  Final Year Project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280160"/>
            <a:ext cx="3749039" cy="24688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353312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🔐  Authentication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755648"/>
            <a:ext cx="35661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</a:pPr>
            <a:r>
              <a:rPr sz="1050" b="0">
                <a:solidFill>
                  <a:srgbClr val="FFFFFF"/>
                </a:solidFill>
              </a:rPr>
              <a:t>• JWT (JSON Web Tokens) for stateless auth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FFFFFF"/>
                </a:solidFill>
              </a:rPr>
              <a:t>• Tokens embed user ID and role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FFFFFF"/>
                </a:solidFill>
              </a:rPr>
              <a:t>• Bearer token sent in every API request header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FFFFFF"/>
                </a:solidFill>
              </a:rPr>
              <a:t>• Token verified by protect middleware on every route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FFFFFF"/>
                </a:solidFill>
              </a:rPr>
              <a:t>• Socket.IO connections also require valid JWT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FFFFFF"/>
                </a:solidFill>
              </a:rPr>
              <a:t>• Separate token decoding for Customer vs User model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1280160"/>
            <a:ext cx="3749039" cy="246888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43399" y="1353312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🔒  Password Security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399" y="1755648"/>
            <a:ext cx="35661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</a:pPr>
            <a:r>
              <a:rPr sz="1050" b="0">
                <a:solidFill>
                  <a:srgbClr val="FFFFFF"/>
                </a:solidFill>
              </a:rPr>
              <a:t>• bcryptjs for password hashing (cost factor ≥ 10)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FFFFFF"/>
                </a:solidFill>
              </a:rPr>
              <a:t>• Passwords never stored in plain text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FFFFFF"/>
                </a:solidFill>
              </a:rPr>
              <a:t>• Password never returned in API responses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FFFFFF"/>
                </a:solidFill>
              </a:rPr>
              <a:t>• Change password endpoint with current password check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FFFFFF"/>
                </a:solidFill>
              </a:rPr>
              <a:t>• No password reset via email (phone-based auth)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1280160"/>
            <a:ext cx="3749039" cy="2468880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1353312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🛡️  Authorization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1755648"/>
            <a:ext cx="35661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</a:pPr>
            <a:r>
              <a:rPr sz="1050" b="0">
                <a:solidFill>
                  <a:srgbClr val="FFFFFF"/>
                </a:solidFill>
              </a:rPr>
              <a:t>• Role-based access control (RBAC)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FFFFFF"/>
                </a:solidFill>
              </a:rPr>
              <a:t>• admin middleware guards admin-only routes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FFFFFF"/>
                </a:solidFill>
              </a:rPr>
              <a:t>• Laborer data access gated by account status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FFFFFF"/>
                </a:solidFill>
              </a:rPr>
              <a:t>• Blocked laborers receive 403 on API calls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FFFFFF"/>
                </a:solidFill>
              </a:rPr>
              <a:t>• Customers can only see their own bookings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FFFFFF"/>
                </a:solidFill>
              </a:rPr>
              <a:t>• Laborers can only see their own job requests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886200"/>
            <a:ext cx="3749039" cy="24688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3959352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📁  File Upload Security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361688"/>
            <a:ext cx="35661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</a:pPr>
            <a:r>
              <a:rPr sz="1050" b="0">
                <a:solidFill>
                  <a:srgbClr val="FFFFFF"/>
                </a:solidFill>
              </a:rPr>
              <a:t>• Multer middleware restricts upload types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FFFFFF"/>
                </a:solidFill>
              </a:rPr>
              <a:t>• Files stored in /uploads (server local)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FFFFFF"/>
                </a:solidFill>
              </a:rPr>
              <a:t>• Static file serving via express.static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FFFFFF"/>
                </a:solidFill>
              </a:rPr>
              <a:t>• Profile images and ID cards processed separately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FFFFFF"/>
                </a:solidFill>
              </a:rPr>
              <a:t>• File size limits enforced by Multer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51959" y="3886200"/>
            <a:ext cx="3749039" cy="24688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43399" y="3959352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🌐  Network Security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43399" y="4361688"/>
            <a:ext cx="35661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</a:pPr>
            <a:r>
              <a:rPr sz="1050" b="0">
                <a:solidFill>
                  <a:srgbClr val="FFFFFF"/>
                </a:solidFill>
              </a:rPr>
              <a:t>• CORS configured (origin: * for dev, restricted in prod)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FFFFFF"/>
                </a:solidFill>
              </a:rPr>
              <a:t>• HTTPS recommended for production deployment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FFFFFF"/>
                </a:solidFill>
              </a:rPr>
              <a:t>• Environment variables via .env (dotenv)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FFFFFF"/>
                </a:solidFill>
              </a:rPr>
              <a:t>• Secrets never committed to source code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FFFFFF"/>
                </a:solidFill>
              </a:rPr>
              <a:t>• express.json() limits JSON body size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0" y="3886200"/>
            <a:ext cx="3749039" cy="246888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21040" y="3959352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📋  Audit &amp; Monitoring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4361688"/>
            <a:ext cx="35661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</a:pPr>
            <a:r>
              <a:rPr sz="1050" b="0">
                <a:solidFill>
                  <a:srgbClr val="FFFFFF"/>
                </a:solidFill>
              </a:rPr>
              <a:t>• Full booking audit log (log[] array)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FFFFFF"/>
                </a:solidFill>
              </a:rPr>
              <a:t>• Admin action logging via AuditLog model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FFFFFF"/>
                </a:solidFill>
              </a:rPr>
              <a:t>• verificationHistory tracks every status change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FFFFFF"/>
                </a:solidFill>
              </a:rPr>
              <a:t>• blockInfo stores who blocked and why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FFFFFF"/>
                </a:solidFill>
              </a:rPr>
              <a:t>• Warning history with reason and timestamp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FFFFFF"/>
                </a:solidFill>
              </a:rPr>
              <a:t>• HTTP request logging middleware</a:t>
            </a:r>
          </a:p>
        </p:txBody>
      </p:sp>
      <p:pic>
        <p:nvPicPr>
          <p:cNvPr id="26" name="Picture 25" descr="logo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91440"/>
            <a:ext cx="640080" cy="327894"/>
          </a:xfrm>
          <a:prstGeom prst="rect">
            <a:avLst/>
          </a:prstGeom>
        </p:spPr>
      </p:pic>
      <p:pic>
        <p:nvPicPr>
          <p:cNvPr id="27" name="Picture 26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7432" y="9144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Future Enhancements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00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5A623"/>
                </a:solidFill>
              </a:rPr>
              <a:t>Planned Features &amp; 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464808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DC3C7"/>
                </a:solidFill>
              </a:rPr>
              <a:t>Skilled Labor App  |  Final Year Project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325880"/>
            <a:ext cx="3749039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389888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E3A5F"/>
                </a:solidFill>
              </a:rPr>
              <a:t>💳  Online Payment Integration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764792"/>
            <a:ext cx="35661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C3E50"/>
                </a:solidFill>
              </a:rPr>
              <a:t>Integrate Stripe/PayPal for in-app payments, escrow system, and automated payouts to laborers after job completion.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1325880"/>
            <a:ext cx="3749039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43399" y="1389888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E3A5F"/>
                </a:solidFill>
              </a:rPr>
              <a:t>🌟  Beauty &amp; Personal Care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399" y="1764792"/>
            <a:ext cx="35661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C3E50"/>
                </a:solidFill>
              </a:rPr>
              <a:t>Expand into beauty services: hair styling, makeup, nail care, spa services (already teased in Future Services carousel).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1325880"/>
            <a:ext cx="3749039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1389888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E3A5F"/>
                </a:solidFill>
              </a:rPr>
              <a:t>🚗  Car Services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1764792"/>
            <a:ext cx="35661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C3E50"/>
                </a:solidFill>
              </a:rPr>
              <a:t>Vehicle maintenance, car wash, oil change, roadside assistance categories (previewed in the app).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697480"/>
            <a:ext cx="3749039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761488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E3A5F"/>
                </a:solidFill>
              </a:rPr>
              <a:t>👗  Tailoring &amp; Fashion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3136392"/>
            <a:ext cx="35661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C3E50"/>
                </a:solidFill>
              </a:rPr>
              <a:t>Custom clothing, alterations, and fashion design services (teased in future carousel).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51959" y="2697480"/>
            <a:ext cx="3749039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43399" y="2761488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E3A5F"/>
                </a:solidFill>
              </a:rPr>
              <a:t>📍  Advanced Location Matching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43399" y="3136392"/>
            <a:ext cx="35661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C3E50"/>
                </a:solidFill>
              </a:rPr>
              <a:t>Match customers with nearby laborers using geospatial queries (MongoDB 2dsphere index), real-time laborer tracking.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0" y="2697480"/>
            <a:ext cx="3749039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21040" y="2761488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E3A5F"/>
                </a:solidFill>
              </a:rPr>
              <a:t>📱  Push Notifications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3136392"/>
            <a:ext cx="35661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C3E50"/>
                </a:solidFill>
              </a:rPr>
              <a:t>Firebase Cloud Messaging (FCM) for real-time push notifications even when the app is closed.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4069080"/>
            <a:ext cx="3749039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4133088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E3A5F"/>
                </a:solidFill>
              </a:rPr>
              <a:t>🔄  Subscription Plans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4507992"/>
            <a:ext cx="35661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C3E50"/>
                </a:solidFill>
              </a:rPr>
              <a:t>Monthly subscription for laborers to appear in premium spots, advanced analytics, and priority support.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51959" y="4069080"/>
            <a:ext cx="3749039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43399" y="4133088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E3A5F"/>
                </a:solidFill>
              </a:rPr>
              <a:t>🤝  Bidding System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43399" y="4507992"/>
            <a:ext cx="35661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C3E50"/>
                </a:solidFill>
              </a:rPr>
              <a:t>Allow multiple laborers to bid on a job request; customer picks the best offer.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0" y="4069080"/>
            <a:ext cx="3749039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21040" y="4133088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E3A5F"/>
                </a:solidFill>
              </a:rPr>
              <a:t>📈  Advanced Analytics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4507992"/>
            <a:ext cx="35661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C3E50"/>
                </a:solidFill>
              </a:rPr>
              <a:t>Detailed reporting for admins: revenue trends, popular services, peak hours, laborer performance.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440680"/>
            <a:ext cx="3749039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5504688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E3A5F"/>
                </a:solidFill>
              </a:rPr>
              <a:t>🌍  Multi-City Expansion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5879592"/>
            <a:ext cx="35661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C3E50"/>
                </a:solidFill>
              </a:rPr>
              <a:t>Scale to multiple cities with city-based filtering and regional admin dashboards.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51959" y="5440680"/>
            <a:ext cx="3749039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43399" y="5504688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E3A5F"/>
                </a:solidFill>
              </a:rPr>
              <a:t>⭐  Laborer Rates Customer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43399" y="5879592"/>
            <a:ext cx="35661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C3E50"/>
                </a:solidFill>
              </a:rPr>
              <a:t>Bidirectional rating system for laborer to rate customer behavior and reliability.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0" y="5440680"/>
            <a:ext cx="3749039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21040" y="5504688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E3A5F"/>
                </a:solidFill>
              </a:rPr>
              <a:t>��  Group Bookings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1040" y="5879592"/>
            <a:ext cx="35661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C3E50"/>
                </a:solidFill>
              </a:rPr>
              <a:t>Allow a team of laborers for large projects, with split compensation.</a:t>
            </a:r>
          </a:p>
        </p:txBody>
      </p:sp>
      <p:pic>
        <p:nvPicPr>
          <p:cNvPr id="44" name="Picture 43" descr="logo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91440"/>
            <a:ext cx="640080" cy="327894"/>
          </a:xfrm>
          <a:prstGeom prst="rect">
            <a:avLst/>
          </a:prstGeom>
        </p:spPr>
      </p:pic>
      <p:pic>
        <p:nvPicPr>
          <p:cNvPr id="45" name="Picture 44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7432" y="9144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Project Summary &amp; Statistics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00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5A623"/>
                </a:solidFill>
              </a:rPr>
              <a:t>What We Built – By The Numbers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464808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DC3C7"/>
                </a:solidFill>
              </a:rPr>
              <a:t>Skilled Labor App  |  Final Year Project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371600"/>
            <a:ext cx="2651760" cy="20574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51460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User Roles
(Customer, Laborer, Admin)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6120" y="1371600"/>
            <a:ext cx="2651760" cy="2057400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37560" y="155448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</a:rPr>
              <a:t>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251460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Service
Categories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371600"/>
            <a:ext cx="2651760" cy="20574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155448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</a:rPr>
              <a:t>48+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51460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Service
Subcategories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06840" y="1371600"/>
            <a:ext cx="2651760" cy="20574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98280" y="155448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</a:rPr>
              <a:t>10+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251460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MongoDB
Models / Collections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703320"/>
            <a:ext cx="2651760" cy="20574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88620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</a:rPr>
              <a:t>20+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84632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API
Endpoints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46120" y="3703320"/>
            <a:ext cx="2651760" cy="2057400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37560" y="388620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</a:rPr>
              <a:t>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37560" y="484632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Backend
Test Files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6480" y="3703320"/>
            <a:ext cx="2651760" cy="20574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17920" y="388620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484632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LLM Models
in AI Fallback Chain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3703320"/>
            <a:ext cx="2651760" cy="20574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98280" y="388620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98280" y="484632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Frontend
Applications</a:t>
            </a:r>
          </a:p>
        </p:txBody>
      </p:sp>
      <p:pic>
        <p:nvPicPr>
          <p:cNvPr id="32" name="Picture 31" descr="logo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91440"/>
            <a:ext cx="640080" cy="327894"/>
          </a:xfrm>
          <a:prstGeom prst="rect">
            <a:avLst/>
          </a:prstGeom>
        </p:spPr>
      </p:pic>
      <p:pic>
        <p:nvPicPr>
          <p:cNvPr id="33" name="Picture 32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7432" y="9144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88952" cy="7315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F5A623"/>
                </a:solidFill>
              </a:rPr>
              <a:t>Skilled Labor App – Bringing Trust to the Home Services Market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✅  Built a complete full-stack application covering mobile, web, and backend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67128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✅  Solved a real-world problem of unorganized skilled labor market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51176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✅  Implemented secure, scalable architecture with JWT, bcrypt, and role-based access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35224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✅  Real-time features via Socket.IO provide instant communication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319272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✅  AI chatbot integration enhances user experience with intelligent guidance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03320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✅  Robust testing coverage ensures reliability with 20+ test files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087368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✅  Admin dashboard provides complete platform governance and transparency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471416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✅  Verification system builds trust between customers and laborers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0" y="5760720"/>
            <a:ext cx="5760720" cy="7315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0" y="5779008"/>
            <a:ext cx="57607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E3A5F"/>
                </a:solidFill>
              </a:rPr>
              <a:t>🙋  QUESTIONS &amp; ANSWERS  🙋</a:t>
            </a:r>
          </a:p>
        </p:txBody>
      </p:sp>
      <p:pic>
        <p:nvPicPr>
          <p:cNvPr id="16" name="Picture 15" descr="logo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91440"/>
            <a:ext cx="640080" cy="327894"/>
          </a:xfrm>
          <a:prstGeom prst="rect">
            <a:avLst/>
          </a:prstGeom>
        </p:spPr>
      </p:pic>
      <p:pic>
        <p:nvPicPr>
          <p:cNvPr id="17" name="Picture 16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7432" y="9144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